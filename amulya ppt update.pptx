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8" r:id="rId3"/>
    <p:sldId id="256" r:id="rId5"/>
    <p:sldId id="257" r:id="rId6"/>
    <p:sldId id="259" r:id="rId7"/>
    <p:sldId id="260" r:id="rId8"/>
    <p:sldId id="261" r:id="rId9"/>
    <p:sldId id="263" r:id="rId10"/>
    <p:sldId id="262" r:id="rId11"/>
    <p:sldId id="264"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6.xml"/><Relationship Id="rId17" Type="http://schemas.openxmlformats.org/officeDocument/2006/relationships/slideLayout" Target="../slideLayouts/slideLayout1.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6" Type="http://schemas.openxmlformats.org/officeDocument/2006/relationships/notesSlide" Target="../notesSlides/notesSlide8.xml"/><Relationship Id="rId15" Type="http://schemas.openxmlformats.org/officeDocument/2006/relationships/slideLayout" Target="../slideLayouts/slideLayout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p:spPr>
      </p:sp>
      <p:sp>
        <p:nvSpPr>
          <p:cNvPr id="19" name="Text 12"/>
          <p:cNvSpPr/>
          <p:nvPr/>
        </p:nvSpPr>
        <p:spPr>
          <a:xfrm>
            <a:off x="457200" y="621030"/>
            <a:ext cx="5122545" cy="3894455"/>
          </a:xfrm>
          <a:prstGeom prst="rect">
            <a:avLst/>
          </a:prstGeom>
          <a:noFill/>
        </p:spPr>
        <p:txBody>
          <a:bodyPr wrap="square" rtlCol="0" anchor="ctr"/>
          <a:lstStyle/>
          <a:p>
            <a:pPr indent="0">
              <a:buClr>
                <a:srgbClr val="4472C4"/>
              </a:buClr>
              <a:buSzPct val="110000"/>
              <a:buFont typeface="Arial" panose="020B0604020202020204" pitchFamily="34" charset="0"/>
              <a:buNone/>
            </a:pPr>
            <a:endParaRPr lang="en-US" sz="1300"/>
          </a:p>
        </p:txBody>
      </p:sp>
      <p:sp>
        <p:nvSpPr>
          <p:cNvPr id="20" name="Text 13"/>
          <p:cNvSpPr/>
          <p:nvPr/>
        </p:nvSpPr>
        <p:spPr>
          <a:xfrm>
            <a:off x="457200" y="1664208"/>
            <a:ext cx="4114800" cy="402336"/>
          </a:xfrm>
          <a:prstGeom prst="rect">
            <a:avLst/>
          </a:prstGeom>
          <a:noFill/>
        </p:spPr>
        <p:txBody>
          <a:bodyPr wrap="square" rtlCol="0" anchor="ctr"/>
          <a:lstStyle/>
          <a:p>
            <a:pPr marL="0" indent="0">
              <a:buNone/>
            </a:pPr>
            <a:endParaRPr lang="en-US" sz="1300"/>
          </a:p>
        </p:txBody>
      </p:sp>
      <p:sp>
        <p:nvSpPr>
          <p:cNvPr id="21" name="Text 14"/>
          <p:cNvSpPr/>
          <p:nvPr/>
        </p:nvSpPr>
        <p:spPr>
          <a:xfrm>
            <a:off x="838200" y="2093341"/>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22" name="Text 15"/>
          <p:cNvSpPr/>
          <p:nvPr/>
        </p:nvSpPr>
        <p:spPr>
          <a:xfrm>
            <a:off x="457200" y="2523744"/>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23" name="Text 16"/>
          <p:cNvSpPr/>
          <p:nvPr/>
        </p:nvSpPr>
        <p:spPr>
          <a:xfrm>
            <a:off x="457200" y="1259840"/>
            <a:ext cx="3830955" cy="2096135"/>
          </a:xfrm>
          <a:prstGeom prst="rect">
            <a:avLst/>
          </a:prstGeom>
          <a:noFill/>
        </p:spPr>
        <p:txBody>
          <a:bodyPr wrap="square" rtlCol="0" anchor="ctr"/>
          <a:lstStyle/>
          <a:p>
            <a:pPr marL="0" indent="0" algn="l">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           .</a:t>
            </a:r>
            <a:endParaRPr lang="en-US" sz="1300"/>
          </a:p>
        </p:txBody>
      </p:sp>
      <p:sp>
        <p:nvSpPr>
          <p:cNvPr id="6" name="Text Box 5"/>
          <p:cNvSpPr txBox="1"/>
          <p:nvPr/>
        </p:nvSpPr>
        <p:spPr>
          <a:xfrm>
            <a:off x="381000" y="1276350"/>
            <a:ext cx="4728210" cy="3239135"/>
          </a:xfrm>
          <a:prstGeom prst="rect">
            <a:avLst/>
          </a:prstGeom>
          <a:noFill/>
        </p:spPr>
        <p:txBody>
          <a:bodyPr wrap="square" rtlCol="0" anchor="t">
            <a:noAutofit/>
          </a:bodyPr>
          <a:p>
            <a:pPr marL="285750" indent="-285750">
              <a:buClr>
                <a:srgbClr val="4472C4"/>
              </a:buClr>
              <a:buFont typeface="Arial" panose="020B0604020202020204" pitchFamily="34" charset="0"/>
              <a:buChar char="•"/>
            </a:pPr>
            <a:r>
              <a:rPr lang="en-US" altLang="en-US" sz="1600"/>
              <a:t>This project focuses on analyzing banking customer account data to understand financial behavior. </a:t>
            </a:r>
            <a:endParaRPr lang="en-US" altLang="en-US" sz="1600"/>
          </a:p>
          <a:p>
            <a:pPr marL="285750" indent="-285750">
              <a:buClr>
                <a:srgbClr val="4472C4"/>
              </a:buClr>
              <a:buFont typeface="Arial" panose="020B0604020202020204" pitchFamily="34" charset="0"/>
              <a:buChar char="•"/>
            </a:pPr>
            <a:r>
              <a:rPr lang="en-US" altLang="en-US" sz="1600"/>
              <a:t>It helps in monitoring key factors like income, expenses, savings, and transaction patterns.</a:t>
            </a:r>
            <a:endParaRPr lang="en-US" altLang="en-US" sz="1600"/>
          </a:p>
          <a:p>
            <a:pPr marL="285750" indent="-285750">
              <a:buClr>
                <a:srgbClr val="4472C4"/>
              </a:buClr>
              <a:buFont typeface="Arial" panose="020B0604020202020204" pitchFamily="34" charset="0"/>
              <a:buChar char="•"/>
            </a:pPr>
            <a:r>
              <a:rPr lang="en-US" altLang="en-US" sz="1600"/>
              <a:t> The data is collected, cleaned, and processed to generate meaningful insights. </a:t>
            </a:r>
            <a:endParaRPr lang="en-US" altLang="en-US" sz="1600"/>
          </a:p>
          <a:p>
            <a:pPr marL="285750" indent="-285750">
              <a:buClr>
                <a:srgbClr val="4472C4"/>
              </a:buClr>
              <a:buFont typeface="Arial" panose="020B0604020202020204" pitchFamily="34" charset="0"/>
              <a:buChar char="•"/>
            </a:pPr>
            <a:r>
              <a:rPr lang="en-US" altLang="en-US" sz="1600"/>
              <a:t>Interactive dashboards are created to display account balance trends and spending habits.</a:t>
            </a:r>
            <a:endParaRPr lang="en-US" altLang="en-US" sz="1600"/>
          </a:p>
          <a:p>
            <a:pPr marL="285750" indent="-285750">
              <a:buClr>
                <a:srgbClr val="4472C4"/>
              </a:buClr>
              <a:buFont typeface="Arial" panose="020B0604020202020204" pitchFamily="34" charset="0"/>
              <a:buChar char="•"/>
            </a:pPr>
            <a:r>
              <a:rPr lang="en-US" altLang="en-US" sz="1600"/>
              <a:t> The project helps identify financial risks and opportunities for better money management. </a:t>
            </a:r>
            <a:endParaRPr lang="en-US" altLang="en-US" sz="1600"/>
          </a:p>
          <a:p>
            <a:pPr marL="285750" indent="-285750">
              <a:buClr>
                <a:srgbClr val="4472C4"/>
              </a:buClr>
              <a:buFont typeface="Arial" panose="020B0604020202020204" pitchFamily="34" charset="0"/>
              <a:buChar char="•"/>
            </a:pPr>
            <a:r>
              <a:rPr lang="en-US" altLang="en-US" sz="1600"/>
              <a:t>The system supports better decision-making for customers and banks. Overall, the project simplifies complex financial data into easy-to-understand visuals and insights.</a:t>
            </a:r>
            <a:endParaRPr lang="en-US" alt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p:spPr>
        <p:txBody>
          <a:bodyPr wrap="square" rtlCol="0" anchor="ctr"/>
          <a:lstStyle/>
          <a:p>
            <a:pPr marL="0" indent="0">
              <a:buNone/>
            </a:pPr>
            <a:r>
              <a:rPr lang="en-US" sz="950">
                <a:solidFill>
                  <a:srgbClr val="607D8B"/>
                </a:solidFill>
                <a:latin typeface="Calibri" panose="020F0502020204030204" pitchFamily="34" charset="0"/>
                <a:ea typeface="Calibri" panose="020F0502020204030204" pitchFamily="34" charset="-122"/>
                <a:cs typeface="Calibri" panose="020F0502020204030204" pitchFamily="34" charset="-120"/>
              </a:rPr>
              <a:t> LinkedIn  </a:t>
            </a:r>
            <a:r>
              <a:rPr lang="en-US" sz="950" err="1">
                <a:solidFill>
                  <a:srgbClr val="607D8B"/>
                </a:solidFill>
                <a:latin typeface="Calibri" panose="020F0502020204030204" pitchFamily="34" charset="0"/>
                <a:ea typeface="Calibri" panose="020F0502020204030204" pitchFamily="34" charset="-122"/>
                <a:cs typeface="Calibri" panose="020F0502020204030204" pitchFamily="34" charset="-120"/>
              </a:rPr>
              <a:t>Edunet</a:t>
            </a:r>
            <a:r>
              <a:rPr lang="en-US" sz="950">
                <a:solidFill>
                  <a:srgbClr val="607D8B"/>
                </a:solidFill>
                <a:latin typeface="Calibri" panose="020F0502020204030204" pitchFamily="34" charset="0"/>
                <a:ea typeface="Calibri" panose="020F0502020204030204" pitchFamily="34" charset="-122"/>
                <a:cs typeface="Calibri" panose="020F0502020204030204" pitchFamily="34" charset="-120"/>
              </a:rPr>
              <a:t>   </a:t>
            </a:r>
            <a:endParaRPr lang="en-US" sz="950"/>
          </a:p>
        </p:txBody>
      </p:sp>
      <p:sp>
        <p:nvSpPr>
          <p:cNvPr id="5" name="Shape 3"/>
          <p:cNvSpPr/>
          <p:nvPr/>
        </p:nvSpPr>
        <p:spPr>
          <a:xfrm>
            <a:off x="5943600" y="0"/>
            <a:ext cx="3200400" cy="5143500"/>
          </a:xfrm>
          <a:prstGeom prst="rect">
            <a:avLst/>
          </a:prstGeom>
          <a:solidFill>
            <a:srgbClr val="1B3A8A"/>
          </a:solidFill>
        </p:spPr>
      </p:sp>
      <p:sp>
        <p:nvSpPr>
          <p:cNvPr id="6" name="Shape 4"/>
          <p:cNvSpPr/>
          <p:nvPr/>
        </p:nvSpPr>
        <p:spPr>
          <a:xfrm>
            <a:off x="5486400" y="0"/>
            <a:ext cx="502920" cy="5143500"/>
          </a:xfrm>
          <a:prstGeom prst="rect">
            <a:avLst/>
          </a:prstGeom>
          <a:solidFill>
            <a:srgbClr val="1565C0"/>
          </a:solidFill>
        </p:spPr>
      </p:sp>
      <p:sp>
        <p:nvSpPr>
          <p:cNvPr id="9" name="Shape 7"/>
          <p:cNvSpPr/>
          <p:nvPr/>
        </p:nvSpPr>
        <p:spPr>
          <a:xfrm>
            <a:off x="6126480" y="3108960"/>
            <a:ext cx="2834640" cy="109728"/>
          </a:xfrm>
          <a:prstGeom prst="rect">
            <a:avLst/>
          </a:prstGeom>
          <a:solidFill>
            <a:srgbClr val="4FC3F7"/>
          </a:solidFill>
        </p:spPr>
      </p:sp>
      <p:sp>
        <p:nvSpPr>
          <p:cNvPr id="10" name="Shape 8"/>
          <p:cNvSpPr/>
          <p:nvPr/>
        </p:nvSpPr>
        <p:spPr>
          <a:xfrm>
            <a:off x="6400800" y="3291840"/>
            <a:ext cx="2468880" cy="109728"/>
          </a:xfrm>
          <a:prstGeom prst="rect">
            <a:avLst/>
          </a:prstGeom>
          <a:solidFill>
            <a:srgbClr val="4FC3F7"/>
          </a:solidFill>
        </p:spPr>
      </p:sp>
      <p:sp>
        <p:nvSpPr>
          <p:cNvPr id="11" name="Shape 9"/>
          <p:cNvSpPr/>
          <p:nvPr/>
        </p:nvSpPr>
        <p:spPr>
          <a:xfrm>
            <a:off x="6675120" y="3474720"/>
            <a:ext cx="2103120" cy="109728"/>
          </a:xfrm>
          <a:prstGeom prst="rect">
            <a:avLst/>
          </a:prstGeom>
          <a:solidFill>
            <a:srgbClr val="4FC3F7"/>
          </a:solidFill>
        </p:spPr>
      </p:sp>
      <p:sp>
        <p:nvSpPr>
          <p:cNvPr id="12" name="Text 10"/>
          <p:cNvSpPr/>
          <p:nvPr/>
        </p:nvSpPr>
        <p:spPr>
          <a:xfrm>
            <a:off x="320040" y="960120"/>
            <a:ext cx="5029200" cy="1463040"/>
          </a:xfrm>
          <a:prstGeom prst="rect">
            <a:avLst/>
          </a:prstGeom>
          <a:noFill/>
        </p:spPr>
        <p:txBody>
          <a:bodyPr wrap="square" rtlCol="0" anchor="ctr"/>
          <a:lstStyle/>
          <a:p>
            <a:pPr marL="0" indent="0">
              <a:buNone/>
            </a:pPr>
            <a:r>
              <a:rPr lang="en-US" sz="3800" b="1">
                <a:solidFill>
                  <a:srgbClr val="1B3A8A"/>
                </a:solidFill>
                <a:latin typeface="Calibri" panose="020F0502020204030204" pitchFamily="34" charset="0"/>
                <a:ea typeface="Calibri" panose="020F0502020204030204" pitchFamily="34" charset="-122"/>
                <a:cs typeface="Calibri" panose="020F0502020204030204" pitchFamily="34" charset="-120"/>
              </a:rPr>
              <a:t>[Banking Customer Account Dashboard]</a:t>
            </a:r>
            <a:endParaRPr lang="en-US" sz="3800"/>
          </a:p>
        </p:txBody>
      </p:sp>
      <p:sp>
        <p:nvSpPr>
          <p:cNvPr id="13" name="Shape 11"/>
          <p:cNvSpPr/>
          <p:nvPr/>
        </p:nvSpPr>
        <p:spPr>
          <a:xfrm>
            <a:off x="320040" y="2578608"/>
            <a:ext cx="3840480" cy="384048"/>
          </a:xfrm>
          <a:prstGeom prst="rect">
            <a:avLst/>
          </a:prstGeom>
          <a:solidFill>
            <a:srgbClr val="1565C0"/>
          </a:solidFill>
        </p:spPr>
      </p:sp>
      <p:sp>
        <p:nvSpPr>
          <p:cNvPr id="14" name="Shape 12"/>
          <p:cNvSpPr/>
          <p:nvPr/>
        </p:nvSpPr>
        <p:spPr>
          <a:xfrm>
            <a:off x="4160520" y="2578608"/>
            <a:ext cx="274320" cy="384048"/>
          </a:xfrm>
          <a:prstGeom prst="rect">
            <a:avLst/>
          </a:prstGeom>
          <a:solidFill>
            <a:srgbClr val="1B3A8A"/>
          </a:solidFill>
        </p:spPr>
      </p:sp>
      <p:sp>
        <p:nvSpPr>
          <p:cNvPr id="15" name="Text 13"/>
          <p:cNvSpPr/>
          <p:nvPr/>
        </p:nvSpPr>
        <p:spPr>
          <a:xfrm>
            <a:off x="320040" y="2578608"/>
            <a:ext cx="3840480" cy="384048"/>
          </a:xfrm>
          <a:prstGeom prst="rect">
            <a:avLst/>
          </a:prstGeom>
          <a:noFill/>
        </p:spPr>
        <p:txBody>
          <a:bodyPr wrap="square" rtlCol="0" anchor="ctr"/>
          <a:lstStyle/>
          <a:p>
            <a:pPr marL="0" indent="0">
              <a:buNone/>
            </a:pPr>
            <a:r>
              <a:rPr lang="en-US" sz="1300" b="1" kern="0" spc="200">
                <a:solidFill>
                  <a:srgbClr val="FFFFFF"/>
                </a:solidFill>
                <a:latin typeface="Calibri" panose="020F0502020204030204" pitchFamily="34" charset="0"/>
                <a:ea typeface="Calibri" panose="020F0502020204030204" pitchFamily="34" charset="-122"/>
                <a:cs typeface="Calibri" panose="020F0502020204030204"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p:spPr>
        <p:txBody>
          <a:bodyPr wrap="square" rtlCol="0" anchor="ctr"/>
          <a:lstStyle/>
          <a:p>
            <a:pPr marL="0" indent="0">
              <a:buNone/>
            </a:pP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Student Name</a:t>
            </a:r>
            <a:endParaRPr lang="en-US" sz="900"/>
          </a:p>
        </p:txBody>
      </p:sp>
      <p:sp>
        <p:nvSpPr>
          <p:cNvPr id="19" name="Text 17"/>
          <p:cNvSpPr/>
          <p:nvPr/>
        </p:nvSpPr>
        <p:spPr>
          <a:xfrm>
            <a:off x="777240" y="3794760"/>
            <a:ext cx="1828800" cy="228600"/>
          </a:xfrm>
          <a:prstGeom prst="rect">
            <a:avLst/>
          </a:prstGeom>
          <a:noFill/>
        </p:spPr>
        <p:txBody>
          <a:bodyPr wrap="square" rtlCol="0" anchor="ctr"/>
          <a:lstStyle/>
          <a:p>
            <a:pPr marL="0" indent="0">
              <a:buNone/>
            </a:pPr>
            <a:r>
              <a:rPr lang="en-US" sz="1100" b="1">
                <a:solidFill>
                  <a:srgbClr val="1B3A8A"/>
                </a:solidFill>
                <a:latin typeface="Calibri" panose="020F0502020204030204" pitchFamily="34" charset="0"/>
                <a:ea typeface="Calibri" panose="020F0502020204030204" pitchFamily="34" charset="-122"/>
                <a:cs typeface="Calibri" panose="020F0502020204030204" pitchFamily="34" charset="-120"/>
              </a:rPr>
              <a:t>[Gonepalli Amulya]</a:t>
            </a:r>
            <a:endParaRPr lang="en-US" sz="110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p:spPr>
        <p:txBody>
          <a:bodyPr wrap="square" rtlCol="0" anchor="ctr"/>
          <a:lstStyle/>
          <a:p>
            <a:pPr marL="0" indent="0">
              <a:buNone/>
            </a:pP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Student Email</a:t>
            </a:r>
            <a:endParaRPr lang="en-US" sz="900"/>
          </a:p>
        </p:txBody>
      </p:sp>
      <p:sp>
        <p:nvSpPr>
          <p:cNvPr id="23" name="Text 21"/>
          <p:cNvSpPr/>
          <p:nvPr/>
        </p:nvSpPr>
        <p:spPr>
          <a:xfrm>
            <a:off x="3291840" y="3794760"/>
            <a:ext cx="1828800" cy="228600"/>
          </a:xfrm>
          <a:prstGeom prst="rect">
            <a:avLst/>
          </a:prstGeom>
          <a:noFill/>
        </p:spPr>
        <p:txBody>
          <a:bodyPr wrap="square" rtlCol="0" anchor="ctr"/>
          <a:lstStyle/>
          <a:p>
            <a:pPr marL="0" indent="0">
              <a:buNone/>
            </a:pPr>
            <a:r>
              <a:rPr lang="en-US" sz="1100" b="1">
                <a:solidFill>
                  <a:srgbClr val="1B3A8A"/>
                </a:solidFill>
                <a:latin typeface="Calibri" panose="020F0502020204030204" pitchFamily="34" charset="0"/>
                <a:ea typeface="Calibri" panose="020F0502020204030204" pitchFamily="34" charset="-122"/>
                <a:cs typeface="Calibri" panose="020F0502020204030204" pitchFamily="34" charset="-120"/>
              </a:rPr>
              <a:t>[gonepalliamulya@gmail.com]</a:t>
            </a:r>
            <a:endParaRPr lang="en-US" sz="110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p:spPr>
        <p:txBody>
          <a:bodyPr wrap="square" rtlCol="0" anchor="ctr"/>
          <a:lstStyle/>
          <a:p>
            <a:pPr marL="0" indent="0">
              <a:buNone/>
            </a:pPr>
            <a:r>
              <a:rPr lang="en-US" sz="1100" b="1">
                <a:solidFill>
                  <a:srgbClr val="1B3A8A"/>
                </a:solidFill>
                <a:latin typeface="Calibri" panose="020F0502020204030204" pitchFamily="34" charset="0"/>
                <a:ea typeface="Calibri" panose="020F0502020204030204" pitchFamily="34" charset="-122"/>
                <a:cs typeface="Calibri" panose="020F0502020204030204" pitchFamily="34" charset="-120"/>
              </a:rPr>
              <a:t>[Umamaheswari]</a:t>
            </a:r>
            <a:endParaRPr lang="en-US" sz="1100"/>
          </a:p>
        </p:txBody>
      </p:sp>
      <p:sp>
        <p:nvSpPr>
          <p:cNvPr id="28" name="Shape 26"/>
          <p:cNvSpPr/>
          <p:nvPr/>
        </p:nvSpPr>
        <p:spPr>
          <a:xfrm>
            <a:off x="0" y="4983480"/>
            <a:ext cx="9144000" cy="160020"/>
          </a:xfrm>
          <a:prstGeom prst="rect">
            <a:avLst/>
          </a:prstGeom>
          <a:solidFill>
            <a:srgbClr val="1B3A8A"/>
          </a:solid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Text 4"/>
          <p:cNvSpPr/>
          <p:nvPr/>
        </p:nvSpPr>
        <p:spPr>
          <a:xfrm>
            <a:off x="457200" y="1234440"/>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300"/>
          </a:p>
        </p:txBody>
      </p:sp>
      <p:sp>
        <p:nvSpPr>
          <p:cNvPr id="7" name="Text 5"/>
          <p:cNvSpPr/>
          <p:nvPr/>
        </p:nvSpPr>
        <p:spPr>
          <a:xfrm>
            <a:off x="457200" y="1664208"/>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a:p>
        </p:txBody>
      </p:sp>
      <p:sp>
        <p:nvSpPr>
          <p:cNvPr id="8" name="Text 6"/>
          <p:cNvSpPr/>
          <p:nvPr/>
        </p:nvSpPr>
        <p:spPr>
          <a:xfrm>
            <a:off x="457200" y="2093976"/>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300"/>
          </a:p>
        </p:txBody>
      </p:sp>
      <p:sp>
        <p:nvSpPr>
          <p:cNvPr id="9" name="Text 7"/>
          <p:cNvSpPr/>
          <p:nvPr/>
        </p:nvSpPr>
        <p:spPr>
          <a:xfrm>
            <a:off x="457200" y="2523744"/>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300"/>
          </a:p>
        </p:txBody>
      </p:sp>
      <p:sp>
        <p:nvSpPr>
          <p:cNvPr id="10" name="Text 8"/>
          <p:cNvSpPr/>
          <p:nvPr/>
        </p:nvSpPr>
        <p:spPr>
          <a:xfrm>
            <a:off x="457200" y="2953512"/>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300"/>
          </a:p>
        </p:txBody>
      </p:sp>
      <p:sp>
        <p:nvSpPr>
          <p:cNvPr id="11" name="Text 9"/>
          <p:cNvSpPr/>
          <p:nvPr/>
        </p:nvSpPr>
        <p:spPr>
          <a:xfrm>
            <a:off x="457200" y="3383280"/>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300"/>
          </a:p>
        </p:txBody>
      </p:sp>
      <p:sp>
        <p:nvSpPr>
          <p:cNvPr id="12" name="Text 10"/>
          <p:cNvSpPr/>
          <p:nvPr/>
        </p:nvSpPr>
        <p:spPr>
          <a:xfrm>
            <a:off x="457200" y="3813048"/>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a:p>
        </p:txBody>
      </p:sp>
      <p:sp>
        <p:nvSpPr>
          <p:cNvPr id="13" name="Text 11"/>
          <p:cNvSpPr/>
          <p:nvPr/>
        </p:nvSpPr>
        <p:spPr>
          <a:xfrm>
            <a:off x="457200" y="4242816"/>
            <a:ext cx="4389120" cy="402336"/>
          </a:xfrm>
          <a:prstGeom prst="rect">
            <a:avLst/>
          </a:prstGeom>
          <a:noFill/>
        </p:spPr>
        <p:txBody>
          <a:bodyPr wrap="square" rtlCol="0" anchor="ctr"/>
          <a:lstStyle/>
          <a:p>
            <a:pPr marL="0" indent="0">
              <a:buNone/>
            </a:pPr>
            <a:r>
              <a:rPr lang="en-US" sz="1300" b="1">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Future Scope</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p:spPr>
      </p:sp>
      <p:sp>
        <p:nvSpPr>
          <p:cNvPr id="14" name="Text 12"/>
          <p:cNvSpPr/>
          <p:nvPr/>
        </p:nvSpPr>
        <p:spPr>
          <a:xfrm>
            <a:off x="457200" y="1234440"/>
            <a:ext cx="4114800" cy="402336"/>
          </a:xfrm>
          <a:prstGeom prst="rect">
            <a:avLst/>
          </a:prstGeom>
          <a:noFill/>
        </p:spPr>
        <p:txBody>
          <a:bodyPr wrap="square" rtlCol="0" anchor="ctr"/>
          <a:lstStyle/>
          <a:p>
            <a:pPr marL="0" indent="0">
              <a:buNone/>
            </a:pPr>
            <a:endParaRPr lang="en-US" sz="1300"/>
          </a:p>
        </p:txBody>
      </p:sp>
      <p:sp>
        <p:nvSpPr>
          <p:cNvPr id="15" name="Text 13"/>
          <p:cNvSpPr/>
          <p:nvPr/>
        </p:nvSpPr>
        <p:spPr>
          <a:xfrm>
            <a:off x="457200" y="1664208"/>
            <a:ext cx="4114800" cy="402336"/>
          </a:xfrm>
          <a:prstGeom prst="rect">
            <a:avLst/>
          </a:prstGeom>
          <a:noFill/>
        </p:spPr>
        <p:txBody>
          <a:bodyPr wrap="square" rtlCol="0" anchor="ctr"/>
          <a:lstStyle/>
          <a:p>
            <a:pPr marL="0" indent="0">
              <a:buNone/>
            </a:pPr>
            <a:endParaRPr lang="en-US" sz="1300"/>
          </a:p>
        </p:txBody>
      </p:sp>
      <p:sp>
        <p:nvSpPr>
          <p:cNvPr id="16" name="Text 14"/>
          <p:cNvSpPr/>
          <p:nvPr/>
        </p:nvSpPr>
        <p:spPr>
          <a:xfrm>
            <a:off x="457200" y="2093976"/>
            <a:ext cx="4114800" cy="402336"/>
          </a:xfrm>
          <a:prstGeom prst="rect">
            <a:avLst/>
          </a:prstGeom>
          <a:noFill/>
        </p:spPr>
        <p:txBody>
          <a:bodyPr wrap="square" rtlCol="0" anchor="ctr"/>
          <a:lstStyle/>
          <a:p>
            <a:pPr marL="0" indent="0">
              <a:buNone/>
            </a:pPr>
            <a:endParaRPr lang="en-US" sz="1300"/>
          </a:p>
        </p:txBody>
      </p:sp>
      <p:sp>
        <p:nvSpPr>
          <p:cNvPr id="17" name="Text 15"/>
          <p:cNvSpPr/>
          <p:nvPr/>
        </p:nvSpPr>
        <p:spPr>
          <a:xfrm>
            <a:off x="457200" y="2523744"/>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18" name="Text 16"/>
          <p:cNvSpPr/>
          <p:nvPr/>
        </p:nvSpPr>
        <p:spPr>
          <a:xfrm>
            <a:off x="457200" y="2953512"/>
            <a:ext cx="4114800" cy="402336"/>
          </a:xfrm>
          <a:prstGeom prst="rect">
            <a:avLst/>
          </a:prstGeom>
          <a:noFill/>
        </p:spPr>
        <p:txBody>
          <a:bodyPr wrap="square" rtlCol="0" anchor="ctr"/>
          <a:lstStyle/>
          <a:p>
            <a:pPr marL="0" indent="0">
              <a:buNone/>
            </a:pPr>
            <a:r>
              <a:rPr lang="en-US" sz="1300">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lang="en-US" sz="1300"/>
          </a:p>
        </p:txBody>
      </p:sp>
      <p:sp>
        <p:nvSpPr>
          <p:cNvPr id="6" name="Text Box 5"/>
          <p:cNvSpPr txBox="1"/>
          <p:nvPr/>
        </p:nvSpPr>
        <p:spPr>
          <a:xfrm>
            <a:off x="457200" y="1178560"/>
            <a:ext cx="4572000" cy="3384550"/>
          </a:xfrm>
          <a:prstGeom prst="rect">
            <a:avLst/>
          </a:prstGeom>
          <a:noFill/>
        </p:spPr>
        <p:txBody>
          <a:bodyPr wrap="square" rtlCol="0" anchor="t">
            <a:noAutofit/>
          </a:bodyPr>
          <a:p>
            <a:pPr marL="285750" indent="-285750">
              <a:buClr>
                <a:srgbClr val="4472C4"/>
              </a:buClr>
              <a:buFont typeface="Arial" panose="020B0604020202020204" pitchFamily="34" charset="0"/>
              <a:buChar char="•"/>
            </a:pPr>
            <a:r>
              <a:rPr lang="en-US" altLang="en-US"/>
              <a:t>Many banking customers do not have a clear understanding of their financial health.</a:t>
            </a:r>
            <a:endParaRPr lang="en-US" altLang="en-US"/>
          </a:p>
          <a:p>
            <a:pPr marL="285750" indent="-285750">
              <a:buClr>
                <a:srgbClr val="4472C4"/>
              </a:buClr>
              <a:buFont typeface="Arial" panose="020B0604020202020204" pitchFamily="34" charset="0"/>
              <a:buChar char="•"/>
            </a:pPr>
            <a:r>
              <a:rPr lang="en-US" altLang="en-US"/>
              <a:t> Financial data like transactions, income, and expenses are scattered and difficult to analyze. </a:t>
            </a:r>
            <a:endParaRPr lang="en-US" altLang="en-US"/>
          </a:p>
          <a:p>
            <a:pPr marL="285750" indent="-285750">
              <a:buClr>
                <a:srgbClr val="4472C4"/>
              </a:buClr>
              <a:buFont typeface="Arial" panose="020B0604020202020204" pitchFamily="34" charset="0"/>
              <a:buChar char="•"/>
            </a:pPr>
            <a:r>
              <a:rPr lang="en-US" altLang="en-US"/>
              <a:t>Traditional bank statements are complex and not user-friendly. </a:t>
            </a:r>
            <a:endParaRPr lang="en-US" altLang="en-US"/>
          </a:p>
          <a:p>
            <a:pPr marL="285750" indent="-285750">
              <a:buClr>
                <a:srgbClr val="4472C4"/>
              </a:buClr>
              <a:buFont typeface="Arial" panose="020B0604020202020204" pitchFamily="34" charset="0"/>
              <a:buChar char="•"/>
            </a:pPr>
            <a:r>
              <a:rPr lang="en-US" altLang="en-US"/>
              <a:t>Customers are unable to identify unnecessary expenses or financial risks.</a:t>
            </a:r>
            <a:endParaRPr lang="en-US" altLang="en-US"/>
          </a:p>
          <a:p>
            <a:pPr marL="285750" indent="-285750">
              <a:buClr>
                <a:srgbClr val="4472C4"/>
              </a:buClr>
              <a:buFont typeface="Arial" panose="020B0604020202020204" pitchFamily="34" charset="0"/>
              <a:buChar char="•"/>
            </a:pPr>
            <a:r>
              <a:rPr lang="en-US" altLang="en-US"/>
              <a:t>Existing systems do not provide real-time insights or personalized financial analysis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2200"/>
          </a:p>
        </p:txBody>
      </p:sp>
      <p:sp>
        <p:nvSpPr>
          <p:cNvPr id="5" name="Shape 3"/>
          <p:cNvSpPr/>
          <p:nvPr/>
        </p:nvSpPr>
        <p:spPr>
          <a:xfrm>
            <a:off x="0" y="4983480"/>
            <a:ext cx="9144000" cy="160020"/>
          </a:xfrm>
          <a:prstGeom prst="rect">
            <a:avLst/>
          </a:prstGeom>
          <a:solidFill>
            <a:srgbClr val="1B3A8A"/>
          </a:solidFill>
        </p:spPr>
      </p:sp>
      <p:sp>
        <p:nvSpPr>
          <p:cNvPr id="14" name="Text 12"/>
          <p:cNvSpPr/>
          <p:nvPr/>
        </p:nvSpPr>
        <p:spPr>
          <a:xfrm>
            <a:off x="457200" y="1234440"/>
            <a:ext cx="4114800" cy="1939925"/>
          </a:xfrm>
          <a:prstGeom prst="rect">
            <a:avLst/>
          </a:prstGeom>
          <a:noFill/>
        </p:spPr>
        <p:txBody>
          <a:bodyPr wrap="square" rtlCol="0" anchor="t"/>
          <a:lstStyle/>
          <a:p>
            <a:pPr marL="0" indent="0">
              <a:buNone/>
            </a:pPr>
            <a:r>
              <a:rPr lang="en-US" altLang="en-US" sz="1300"/>
              <a:t>Develop a Banking Customer Account Dashboard to analyze financial data easily. Collect customer data such as transactions, income, expenses, and account balances. Use Excel for data cleaning and preprocessing to ensure accuracy. Apply Power BI to create interactive dashboards and visualizations. Display key metrics like total balance, monthly spending, savings, and income trends.The proposed solution is to develop a Banking Customer Account Dashboard that enables users to easily analyze and understand their financial data. The system collects important customer information such as transaction details, income, expenses, and account balances. This data is then cleaned and preprocessed using Excel to remove errors, duplicates, and missing values, ensuring accuracy and reliability.</a:t>
            </a:r>
            <a:endParaRPr lang="en-US" altLang="en-US" sz="1300"/>
          </a:p>
        </p:txBody>
      </p:sp>
      <p:sp>
        <p:nvSpPr>
          <p:cNvPr id="16" name="Text 14"/>
          <p:cNvSpPr/>
          <p:nvPr/>
        </p:nvSpPr>
        <p:spPr>
          <a:xfrm>
            <a:off x="4846320" y="1280160"/>
            <a:ext cx="3931920" cy="1828800"/>
          </a:xfrm>
          <a:prstGeom prst="rect">
            <a:avLst/>
          </a:prstGeom>
          <a:noFill/>
        </p:spPr>
        <p:txBody>
          <a:bodyPr wrap="square" rtlCol="0" anchor="ctr"/>
          <a:lstStyle/>
          <a:p>
            <a:pPr marL="0" indent="0" algn="ctr">
              <a:buNone/>
            </a:pPr>
            <a:endParaRPr 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Shape 4"/>
          <p:cNvSpPr/>
          <p:nvPr>
            <p:custDataLst>
              <p:tags r:id="rId1"/>
            </p:custDataLst>
          </p:nvPr>
        </p:nvSpPr>
        <p:spPr>
          <a:xfrm>
            <a:off x="274320" y="1097280"/>
            <a:ext cx="4114800" cy="384048"/>
          </a:xfrm>
          <a:prstGeom prst="rect">
            <a:avLst/>
          </a:prstGeom>
          <a:solidFill>
            <a:srgbClr val="1565C0"/>
          </a:solidFill>
        </p:spPr>
      </p:sp>
      <p:sp>
        <p:nvSpPr>
          <p:cNvPr id="7" name="Shape 5"/>
          <p:cNvSpPr/>
          <p:nvPr>
            <p:custDataLst>
              <p:tags r:id="rId2"/>
            </p:custDataLst>
          </p:nvPr>
        </p:nvSpPr>
        <p:spPr>
          <a:xfrm>
            <a:off x="4206240" y="1097280"/>
            <a:ext cx="320040" cy="384048"/>
          </a:xfrm>
          <a:prstGeom prst="rect">
            <a:avLst/>
          </a:prstGeom>
          <a:solidFill>
            <a:srgbClr val="1B3A8A"/>
          </a:solidFill>
        </p:spPr>
      </p:sp>
      <p:sp>
        <p:nvSpPr>
          <p:cNvPr id="8" name="Text 6"/>
          <p:cNvSpPr/>
          <p:nvPr>
            <p:custDataLst>
              <p:tags r:id="rId3"/>
            </p:custDataLst>
          </p:nvPr>
        </p:nvSpPr>
        <p:spPr>
          <a:xfrm>
            <a:off x="365760" y="11338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Data Input / Source</a:t>
            </a:r>
            <a:endParaRPr lang="en-US" sz="1200"/>
          </a:p>
        </p:txBody>
      </p:sp>
      <p:sp>
        <p:nvSpPr>
          <p:cNvPr id="9" name="Text 7"/>
          <p:cNvSpPr/>
          <p:nvPr>
            <p:custDataLst>
              <p:tags r:id="rId4"/>
            </p:custDataLst>
          </p:nvPr>
        </p:nvSpPr>
        <p:spPr>
          <a:xfrm>
            <a:off x="365760" y="1554480"/>
            <a:ext cx="4023360" cy="1188720"/>
          </a:xfrm>
          <a:prstGeom prst="rect">
            <a:avLst/>
          </a:prstGeom>
          <a:noFill/>
        </p:spPr>
        <p:txBody>
          <a:bodyPr wrap="square" rtlCol="0" anchor="t"/>
          <a:lstStyle/>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Collect data from banking records such as:</a:t>
            </a:r>
            <a:endPar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Customer account details </a:t>
            </a:r>
            <a:endPar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Transaction history</a:t>
            </a:r>
            <a:endPar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Data can be taken from Excel files, CSV files,</a:t>
            </a:r>
            <a:endPar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altLang="en-US" sz="1150">
                <a:solidFill>
                  <a:srgbClr val="1A1A2E"/>
                </a:solidFill>
                <a:latin typeface="Calibri" panose="020F0502020204030204" pitchFamily="34" charset="0"/>
                <a:ea typeface="Calibri" panose="020F0502020204030204" pitchFamily="34" charset="-122"/>
                <a:cs typeface="Calibri" panose="020F0502020204030204" pitchFamily="34" charset="-120"/>
              </a:rPr>
              <a:t> or databases</a:t>
            </a:r>
            <a:endParaRPr lang="en-US" sz="1150"/>
          </a:p>
        </p:txBody>
      </p:sp>
      <p:sp>
        <p:nvSpPr>
          <p:cNvPr id="10" name="Shape 8"/>
          <p:cNvSpPr/>
          <p:nvPr>
            <p:custDataLst>
              <p:tags r:id="rId5"/>
            </p:custDataLst>
          </p:nvPr>
        </p:nvSpPr>
        <p:spPr>
          <a:xfrm>
            <a:off x="4709160" y="1097280"/>
            <a:ext cx="4114800" cy="384048"/>
          </a:xfrm>
          <a:prstGeom prst="rect">
            <a:avLst/>
          </a:prstGeom>
          <a:solidFill>
            <a:srgbClr val="1565C0"/>
          </a:solidFill>
        </p:spPr>
      </p:sp>
      <p:sp>
        <p:nvSpPr>
          <p:cNvPr id="11" name="Shape 9"/>
          <p:cNvSpPr/>
          <p:nvPr>
            <p:custDataLst>
              <p:tags r:id="rId6"/>
            </p:custDataLst>
          </p:nvPr>
        </p:nvSpPr>
        <p:spPr>
          <a:xfrm>
            <a:off x="8641080" y="1097280"/>
            <a:ext cx="320040" cy="384048"/>
          </a:xfrm>
          <a:prstGeom prst="rect">
            <a:avLst/>
          </a:prstGeom>
          <a:solidFill>
            <a:srgbClr val="1B3A8A"/>
          </a:solidFill>
        </p:spPr>
      </p:sp>
      <p:sp>
        <p:nvSpPr>
          <p:cNvPr id="12" name="Text 10"/>
          <p:cNvSpPr/>
          <p:nvPr>
            <p:custDataLst>
              <p:tags r:id="rId7"/>
            </p:custDataLst>
          </p:nvPr>
        </p:nvSpPr>
        <p:spPr>
          <a:xfrm>
            <a:off x="4800600" y="11338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Processing / Analysis</a:t>
            </a:r>
            <a:endParaRPr lang="en-US" sz="1200"/>
          </a:p>
        </p:txBody>
      </p:sp>
      <p:sp>
        <p:nvSpPr>
          <p:cNvPr id="13" name="Text 11"/>
          <p:cNvSpPr/>
          <p:nvPr>
            <p:custDataLst>
              <p:tags r:id="rId8"/>
            </p:custDataLst>
          </p:nvPr>
        </p:nvSpPr>
        <p:spPr>
          <a:xfrm>
            <a:off x="4800600" y="1554480"/>
            <a:ext cx="4023360" cy="1188720"/>
          </a:xfrm>
          <a:prstGeom prst="rect">
            <a:avLst/>
          </a:prstGeom>
          <a:noFill/>
        </p:spPr>
        <p:txBody>
          <a:bodyPr wrap="square" rtlCol="0" anchor="t"/>
          <a:lstStyle/>
          <a:p>
            <a:pPr marL="0" indent="0">
              <a:buNone/>
            </a:pPr>
            <a:r>
              <a:rPr lang="en-US" altLang="en-US" sz="1150"/>
              <a:t>Clean the data by:</a:t>
            </a:r>
            <a:endParaRPr lang="en-US" altLang="en-US" sz="1150"/>
          </a:p>
          <a:p>
            <a:pPr marL="0" indent="0">
              <a:buNone/>
            </a:pPr>
            <a:r>
              <a:rPr lang="en-US" altLang="en-US" sz="1150"/>
              <a:t> Removing errors and duplicates</a:t>
            </a:r>
            <a:endParaRPr lang="en-US" altLang="en-US" sz="1150"/>
          </a:p>
          <a:p>
            <a:pPr marL="0" indent="0">
              <a:buNone/>
            </a:pPr>
            <a:r>
              <a:rPr lang="en-US" altLang="en-US" sz="1150"/>
              <a:t> Handling missing values </a:t>
            </a:r>
            <a:endParaRPr lang="en-US" altLang="en-US" sz="1150"/>
          </a:p>
          <a:p>
            <a:pPr marL="0" indent="0">
              <a:buNone/>
            </a:pPr>
            <a:r>
              <a:rPr lang="en-US" altLang="en-US" sz="1150"/>
              <a:t>Organize data into proper format (tables, </a:t>
            </a:r>
            <a:endParaRPr lang="en-US" altLang="en-US" sz="1150"/>
          </a:p>
          <a:p>
            <a:pPr marL="0" indent="0">
              <a:buNone/>
            </a:pPr>
            <a:r>
              <a:rPr lang="en-US" altLang="en-US" sz="1150"/>
              <a:t>categories)</a:t>
            </a:r>
            <a:endParaRPr lang="en-US" altLang="en-US" sz="1150"/>
          </a:p>
          <a:p>
            <a:pPr marL="0" indent="0">
              <a:buNone/>
            </a:pPr>
            <a:endParaRPr lang="en-US" altLang="en-US" sz="1150"/>
          </a:p>
        </p:txBody>
      </p:sp>
      <p:sp>
        <p:nvSpPr>
          <p:cNvPr id="14" name="Shape 12"/>
          <p:cNvSpPr/>
          <p:nvPr>
            <p:custDataLst>
              <p:tags r:id="rId9"/>
            </p:custDataLst>
          </p:nvPr>
        </p:nvSpPr>
        <p:spPr>
          <a:xfrm>
            <a:off x="274320" y="2926080"/>
            <a:ext cx="4114800" cy="384048"/>
          </a:xfrm>
          <a:prstGeom prst="rect">
            <a:avLst/>
          </a:prstGeom>
          <a:solidFill>
            <a:srgbClr val="1565C0"/>
          </a:solidFill>
        </p:spPr>
      </p:sp>
      <p:sp>
        <p:nvSpPr>
          <p:cNvPr id="15" name="Shape 13"/>
          <p:cNvSpPr/>
          <p:nvPr>
            <p:custDataLst>
              <p:tags r:id="rId10"/>
            </p:custDataLst>
          </p:nvPr>
        </p:nvSpPr>
        <p:spPr>
          <a:xfrm>
            <a:off x="4206240" y="2926080"/>
            <a:ext cx="320040" cy="384048"/>
          </a:xfrm>
          <a:prstGeom prst="rect">
            <a:avLst/>
          </a:prstGeom>
          <a:solidFill>
            <a:srgbClr val="1B3A8A"/>
          </a:solidFill>
        </p:spPr>
      </p:sp>
      <p:sp>
        <p:nvSpPr>
          <p:cNvPr id="16" name="Text 14"/>
          <p:cNvSpPr/>
          <p:nvPr>
            <p:custDataLst>
              <p:tags r:id="rId11"/>
            </p:custDataLst>
          </p:nvPr>
        </p:nvSpPr>
        <p:spPr>
          <a:xfrm>
            <a:off x="365760" y="29626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AI / Tool Integration</a:t>
            </a:r>
            <a:endParaRPr lang="en-US" sz="1200"/>
          </a:p>
        </p:txBody>
      </p:sp>
      <p:sp>
        <p:nvSpPr>
          <p:cNvPr id="17" name="Text 15"/>
          <p:cNvSpPr/>
          <p:nvPr>
            <p:custDataLst>
              <p:tags r:id="rId12"/>
            </p:custDataLst>
          </p:nvPr>
        </p:nvSpPr>
        <p:spPr>
          <a:xfrm>
            <a:off x="365760" y="3383280"/>
            <a:ext cx="4023360" cy="1188720"/>
          </a:xfrm>
          <a:prstGeom prst="rect">
            <a:avLst/>
          </a:prstGeom>
          <a:noFill/>
        </p:spPr>
        <p:txBody>
          <a:bodyPr wrap="square" rtlCol="0" anchor="t"/>
          <a:lstStyle/>
          <a:p>
            <a:pPr marL="0" indent="0">
              <a:buNone/>
            </a:pPr>
            <a:r>
              <a:rPr lang="en-US" altLang="en-US" sz="1150"/>
              <a:t>Use Excel for data cleaning and basic</a:t>
            </a:r>
            <a:endParaRPr lang="en-US" altLang="en-US" sz="1150"/>
          </a:p>
          <a:p>
            <a:pPr marL="0" indent="0">
              <a:buNone/>
            </a:pPr>
            <a:r>
              <a:rPr lang="en-US" altLang="en-US" sz="1150"/>
              <a:t> analysis</a:t>
            </a:r>
            <a:endParaRPr lang="en-US" altLang="en-US" sz="1150"/>
          </a:p>
          <a:p>
            <a:pPr marL="0" indent="0">
              <a:buNone/>
            </a:pPr>
            <a:r>
              <a:rPr lang="en-US" altLang="en-US" sz="1150"/>
              <a:t> Use Power BI to build dashboards and</a:t>
            </a:r>
            <a:endParaRPr lang="en-US" altLang="en-US" sz="1150"/>
          </a:p>
          <a:p>
            <a:pPr marL="0" indent="0">
              <a:buNone/>
            </a:pPr>
            <a:r>
              <a:rPr lang="en-US" altLang="en-US" sz="1150"/>
              <a:t> visualizations</a:t>
            </a:r>
            <a:endParaRPr lang="en-US" altLang="en-US" sz="1150"/>
          </a:p>
          <a:p>
            <a:pPr marL="0" indent="0">
              <a:buNone/>
            </a:pPr>
            <a:r>
              <a:rPr lang="en-US" altLang="en-US" sz="1150"/>
              <a:t> Use AI tools (Copilot/ChatGPT) to:</a:t>
            </a:r>
            <a:endParaRPr lang="en-US" altLang="en-US" sz="1150"/>
          </a:p>
          <a:p>
            <a:pPr marL="0" indent="0">
              <a:buNone/>
            </a:pPr>
            <a:r>
              <a:rPr lang="en-US" altLang="en-US" sz="1150"/>
              <a:t> Generate insights</a:t>
            </a:r>
            <a:endParaRPr lang="en-US" altLang="en-US" sz="1150"/>
          </a:p>
        </p:txBody>
      </p:sp>
      <p:sp>
        <p:nvSpPr>
          <p:cNvPr id="18" name="Shape 16"/>
          <p:cNvSpPr/>
          <p:nvPr>
            <p:custDataLst>
              <p:tags r:id="rId13"/>
            </p:custDataLst>
          </p:nvPr>
        </p:nvSpPr>
        <p:spPr>
          <a:xfrm>
            <a:off x="4709160" y="2926080"/>
            <a:ext cx="4114800" cy="384048"/>
          </a:xfrm>
          <a:prstGeom prst="rect">
            <a:avLst/>
          </a:prstGeom>
          <a:solidFill>
            <a:srgbClr val="1565C0"/>
          </a:solidFill>
        </p:spPr>
      </p:sp>
      <p:sp>
        <p:nvSpPr>
          <p:cNvPr id="19" name="Shape 17"/>
          <p:cNvSpPr/>
          <p:nvPr>
            <p:custDataLst>
              <p:tags r:id="rId14"/>
            </p:custDataLst>
          </p:nvPr>
        </p:nvSpPr>
        <p:spPr>
          <a:xfrm>
            <a:off x="8641080" y="2926080"/>
            <a:ext cx="320040" cy="384048"/>
          </a:xfrm>
          <a:prstGeom prst="rect">
            <a:avLst/>
          </a:prstGeom>
          <a:solidFill>
            <a:srgbClr val="1B3A8A"/>
          </a:solidFill>
        </p:spPr>
      </p:sp>
      <p:sp>
        <p:nvSpPr>
          <p:cNvPr id="20" name="Text 18"/>
          <p:cNvSpPr/>
          <p:nvPr>
            <p:custDataLst>
              <p:tags r:id="rId15"/>
            </p:custDataLst>
          </p:nvPr>
        </p:nvSpPr>
        <p:spPr>
          <a:xfrm>
            <a:off x="4800600" y="2962656"/>
            <a:ext cx="3840480" cy="310896"/>
          </a:xfrm>
          <a:prstGeom prst="rect">
            <a:avLst/>
          </a:prstGeom>
          <a:noFill/>
        </p:spPr>
        <p:txBody>
          <a:bodyPr wrap="square" rtlCol="0" anchor="ctr"/>
          <a:lstStyle/>
          <a:p>
            <a:pPr marL="0" indent="0">
              <a:buNone/>
            </a:pPr>
            <a:r>
              <a:rPr lang="en-US" sz="1200" b="1">
                <a:solidFill>
                  <a:srgbClr val="FFFFFF"/>
                </a:solidFill>
                <a:latin typeface="Calibri" panose="020F0502020204030204" pitchFamily="34" charset="0"/>
                <a:ea typeface="Calibri" panose="020F0502020204030204" pitchFamily="34" charset="-122"/>
                <a:cs typeface="Calibri" panose="020F0502020204030204" pitchFamily="34" charset="-120"/>
              </a:rPr>
              <a:t>Output / Dashboard</a:t>
            </a:r>
            <a:endParaRPr lang="en-US" sz="1200"/>
          </a:p>
        </p:txBody>
      </p:sp>
      <p:sp>
        <p:nvSpPr>
          <p:cNvPr id="21" name="Text 19"/>
          <p:cNvSpPr/>
          <p:nvPr>
            <p:custDataLst>
              <p:tags r:id="rId16"/>
            </p:custDataLst>
          </p:nvPr>
        </p:nvSpPr>
        <p:spPr>
          <a:xfrm>
            <a:off x="4800600" y="3383280"/>
            <a:ext cx="4023360" cy="1188720"/>
          </a:xfrm>
          <a:prstGeom prst="rect">
            <a:avLst/>
          </a:prstGeom>
          <a:noFill/>
        </p:spPr>
        <p:txBody>
          <a:bodyPr wrap="square" rtlCol="0" anchor="t"/>
          <a:lstStyle/>
          <a:p>
            <a:pPr marL="0" indent="0">
              <a:buNone/>
            </a:pPr>
            <a:r>
              <a:rPr lang="en-US" altLang="en-US" sz="1150"/>
              <a:t>Use charts like: </a:t>
            </a:r>
            <a:endParaRPr lang="en-US" altLang="en-US" sz="1150"/>
          </a:p>
          <a:p>
            <a:pPr marL="0" indent="0">
              <a:buNone/>
            </a:pPr>
            <a:r>
              <a:rPr lang="en-US" altLang="en-US" sz="1150"/>
              <a:t>Bar charts</a:t>
            </a:r>
            <a:endParaRPr lang="en-US" altLang="en-US" sz="1150"/>
          </a:p>
          <a:p>
            <a:pPr marL="0" indent="0">
              <a:buNone/>
            </a:pPr>
            <a:r>
              <a:rPr lang="en-US" altLang="en-US" sz="1150"/>
              <a:t> Pie charts</a:t>
            </a:r>
            <a:endParaRPr lang="en-US" altLang="en-US" sz="1150"/>
          </a:p>
          <a:p>
            <a:pPr marL="0" indent="0">
              <a:buNone/>
            </a:pPr>
            <a:r>
              <a:rPr lang="en-US" altLang="en-US" sz="1150"/>
              <a:t> Line graphs </a:t>
            </a:r>
            <a:endParaRPr lang="en-US" altLang="en-US" sz="1150"/>
          </a:p>
          <a:p>
            <a:pPr marL="0" indent="0">
              <a:buNone/>
            </a:pPr>
            <a:r>
              <a:rPr lang="en-US" altLang="en-US" sz="1150"/>
              <a:t>Provide easy-to-understand insights for</a:t>
            </a:r>
            <a:endParaRPr lang="en-US" altLang="en-US" sz="1150"/>
          </a:p>
          <a:p>
            <a:pPr marL="0" indent="0">
              <a:buNone/>
            </a:pPr>
            <a:r>
              <a:rPr lang="en-US" altLang="en-US" sz="1150"/>
              <a:t> users</a:t>
            </a:r>
            <a:endParaRPr lang="en-US" altLang="en-US" sz="11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p:spPr>
      </p:sp>
      <p:sp>
        <p:nvSpPr>
          <p:cNvPr id="8" name="Shape 6"/>
          <p:cNvSpPr/>
          <p:nvPr/>
        </p:nvSpPr>
        <p:spPr>
          <a:xfrm>
            <a:off x="502920" y="777240"/>
            <a:ext cx="164592" cy="164592"/>
          </a:xfrm>
          <a:prstGeom prst="ellipse">
            <a:avLst/>
          </a:prstGeom>
          <a:solidFill>
            <a:srgbClr val="FF5F57"/>
          </a:solidFill>
        </p:spPr>
      </p:sp>
      <p:sp>
        <p:nvSpPr>
          <p:cNvPr id="9" name="Shape 7"/>
          <p:cNvSpPr/>
          <p:nvPr/>
        </p:nvSpPr>
        <p:spPr>
          <a:xfrm>
            <a:off x="731520" y="777240"/>
            <a:ext cx="164592" cy="164592"/>
          </a:xfrm>
          <a:prstGeom prst="ellipse">
            <a:avLst/>
          </a:prstGeom>
          <a:solidFill>
            <a:srgbClr val="FEBC2E"/>
          </a:solidFill>
        </p:spPr>
      </p:sp>
      <p:sp>
        <p:nvSpPr>
          <p:cNvPr id="10" name="Shape 8"/>
          <p:cNvSpPr/>
          <p:nvPr/>
        </p:nvSpPr>
        <p:spPr>
          <a:xfrm>
            <a:off x="960120" y="777240"/>
            <a:ext cx="164592" cy="164592"/>
          </a:xfrm>
          <a:prstGeom prst="ellipse">
            <a:avLst/>
          </a:prstGeom>
          <a:solidFill>
            <a:srgbClr val="28C840"/>
          </a:solidFill>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p:spPr>
        <p:txBody>
          <a:bodyPr wrap="square" rtlCol="0" anchor="ctr"/>
          <a:lstStyle/>
          <a:p>
            <a:pPr marL="0" indent="0">
              <a:buNone/>
            </a:pP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[https://your-project-demo-link.com</a:t>
            </a:r>
            <a:r>
              <a:rPr lang="en-US" alt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https://drive.google.com/file/d/1jIVi-1Hjcm9CnN050y8BjdatvLX3MuXA/view?usp=drivesdk</a:t>
            </a:r>
            <a:r>
              <a:rPr lang="en-US" sz="900">
                <a:solidFill>
                  <a:srgbClr val="607D8B"/>
                </a:solidFill>
                <a:latin typeface="Calibri" panose="020F0502020204030204" pitchFamily="34" charset="0"/>
                <a:ea typeface="Calibri" panose="020F0502020204030204" pitchFamily="34" charset="-122"/>
                <a:cs typeface="Calibri" panose="020F0502020204030204" pitchFamily="34" charset="-120"/>
              </a:rPr>
              <a:t>]</a:t>
            </a:r>
            <a:endParaRPr lang="en-US" sz="900"/>
          </a:p>
        </p:txBody>
      </p:sp>
      <p:sp>
        <p:nvSpPr>
          <p:cNvPr id="13" name="Shape 11"/>
          <p:cNvSpPr/>
          <p:nvPr/>
        </p:nvSpPr>
        <p:spPr>
          <a:xfrm>
            <a:off x="3749040" y="1828800"/>
            <a:ext cx="1645920" cy="1645920"/>
          </a:xfrm>
          <a:prstGeom prst="ellipse">
            <a:avLst/>
          </a:prstGeom>
          <a:solidFill>
            <a:srgbClr val="1B3A8A">
              <a:alpha val="80000"/>
            </a:srgbClr>
          </a:solidFill>
        </p:spPr>
      </p:sp>
      <p:sp>
        <p:nvSpPr>
          <p:cNvPr id="14" name="Text 12"/>
          <p:cNvSpPr/>
          <p:nvPr/>
        </p:nvSpPr>
        <p:spPr>
          <a:xfrm>
            <a:off x="3810000" y="1920240"/>
            <a:ext cx="1645920" cy="1645920"/>
          </a:xfrm>
          <a:prstGeom prst="rect">
            <a:avLst/>
          </a:prstGeom>
          <a:noFill/>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p:spPr>
        <p:txBody>
          <a:bodyPr wrap="square" rtlCol="0" anchor="ctr"/>
          <a:lstStyle/>
          <a:p>
            <a:pPr marL="0" indent="0" algn="ctr">
              <a:buNone/>
            </a:pPr>
            <a:r>
              <a:rPr lang="en-US" sz="1100" i="1">
                <a:solidFill>
                  <a:srgbClr val="607D8B"/>
                </a:solidFill>
                <a:latin typeface="Calibri" panose="020F0502020204030204" pitchFamily="34" charset="0"/>
                <a:ea typeface="Calibri" panose="020F0502020204030204" pitchFamily="34" charset="-122"/>
                <a:cs typeface="Calibri" panose="020F0502020204030204" pitchFamily="34" charset="-120"/>
              </a:rPr>
              <a:t>[Insert your project demo video.</a:t>
            </a:r>
            <a:endParaRPr lang="en-US" sz="1100"/>
          </a:p>
          <a:p>
            <a:pPr marL="0" indent="0" algn="ctr">
              <a:buNone/>
            </a:pPr>
            <a:r>
              <a:rPr lang="en-US" sz="1100" i="1">
                <a:solidFill>
                  <a:srgbClr val="607D8B"/>
                </a:solidFill>
                <a:latin typeface="Calibri" panose="020F0502020204030204" pitchFamily="34" charset="0"/>
                <a:ea typeface="Calibri" panose="020F0502020204030204" pitchFamily="34" charset="-122"/>
                <a:cs typeface="Calibri" panose="020F0502020204030204" pitchFamily="34" charset="-120"/>
              </a:rPr>
              <a:t>You can embed a video your live project.]</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Text 4"/>
          <p:cNvSpPr/>
          <p:nvPr/>
        </p:nvSpPr>
        <p:spPr>
          <a:xfrm>
            <a:off x="365760" y="1115568"/>
            <a:ext cx="8412480" cy="320040"/>
          </a:xfrm>
          <a:prstGeom prst="rect">
            <a:avLst/>
          </a:prstGeom>
          <a:noFill/>
        </p:spPr>
        <p:txBody>
          <a:bodyPr wrap="square" rtlCol="0" anchor="ctr"/>
          <a:lstStyle/>
          <a:p>
            <a:pPr marL="0" indent="0">
              <a:buNone/>
            </a:pPr>
            <a:r>
              <a:rPr lang="en-US" sz="1200" i="1">
                <a:solidFill>
                  <a:srgbClr val="607D8B"/>
                </a:solidFill>
                <a:latin typeface="Calibri" panose="020F0502020204030204" pitchFamily="34" charset="0"/>
                <a:ea typeface="Calibri" panose="020F0502020204030204" pitchFamily="34" charset="-122"/>
                <a:cs typeface="Calibri" panose="020F0502020204030204" pitchFamily="34" charset="-120"/>
              </a:rPr>
              <a:t>Here's the list of some demo screenshots / features of the project:</a:t>
            </a:r>
            <a:endParaRPr lang="en-US" sz="1200"/>
          </a:p>
        </p:txBody>
      </p:sp>
      <p:sp>
        <p:nvSpPr>
          <p:cNvPr id="7" name="Shape 5"/>
          <p:cNvSpPr/>
          <p:nvPr>
            <p:custDataLst>
              <p:tags r:id="rId1"/>
            </p:custDataLst>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p:spPr>
        <p:txBody>
          <a:bodyPr wrap="square" rtlCol="0" anchor="ctr"/>
          <a:lstStyle/>
          <a:p>
            <a:pPr marL="0" indent="0" algn="ctr">
              <a:buNone/>
            </a:pPr>
            <a:r>
              <a:rPr lang="en-US" sz="3600">
                <a:solidFill>
                  <a:srgbClr val="000000"/>
                </a:solidFill>
              </a:rPr>
              <a:t>🖼</a:t>
            </a:r>
            <a:endParaRPr lang="en-US" sz="3600"/>
          </a:p>
        </p:txBody>
      </p:sp>
      <p:sp>
        <p:nvSpPr>
          <p:cNvPr id="9" name="Shape 7"/>
          <p:cNvSpPr/>
          <p:nvPr>
            <p:custDataLst>
              <p:tags r:id="rId2"/>
            </p:custDataLst>
          </p:nvPr>
        </p:nvSpPr>
        <p:spPr>
          <a:xfrm>
            <a:off x="274320" y="2011680"/>
            <a:ext cx="2788920" cy="2651760"/>
          </a:xfrm>
          <a:prstGeom prst="rect">
            <a:avLst/>
          </a:prstGeom>
          <a:solidFill>
            <a:srgbClr val="1565C0"/>
          </a:solidFill>
          <a:effectLst>
            <a:outerShdw blurRad="101600" dist="38100" dir="8100000" algn="bl" rotWithShape="0">
              <a:srgbClr val="000000">
                <a:alpha val="15000"/>
              </a:srgbClr>
            </a:outerShdw>
          </a:effectLst>
        </p:spPr>
      </p:sp>
      <p:sp>
        <p:nvSpPr>
          <p:cNvPr id="10" name="Text 8"/>
          <p:cNvSpPr/>
          <p:nvPr>
            <p:custDataLst>
              <p:tags r:id="rId3"/>
            </p:custDataLst>
          </p:nvPr>
        </p:nvSpPr>
        <p:spPr>
          <a:xfrm>
            <a:off x="274320" y="2651760"/>
            <a:ext cx="2788920" cy="411480"/>
          </a:xfrm>
          <a:prstGeom prst="rect">
            <a:avLst/>
          </a:prstGeom>
          <a:noFill/>
        </p:spPr>
        <p:txBody>
          <a:bodyPr wrap="square" rtlCol="0" anchor="ctr"/>
          <a:lstStyle/>
          <a:p>
            <a:pPr marL="0" indent="0" algn="ctr">
              <a:buNone/>
            </a:pPr>
            <a:r>
              <a:rPr lang="en-US" sz="1600" b="1">
                <a:solidFill>
                  <a:srgbClr val="FFFFFF"/>
                </a:solidFill>
                <a:latin typeface="Calibri" panose="020F0502020204030204" pitchFamily="34" charset="0"/>
                <a:ea typeface="Calibri" panose="020F0502020204030204" pitchFamily="34" charset="-122"/>
                <a:cs typeface="Calibri" panose="020F0502020204030204" pitchFamily="34" charset="-120"/>
              </a:rPr>
              <a:t>Demo 1</a:t>
            </a:r>
            <a:endParaRPr lang="en-US" sz="1600"/>
          </a:p>
        </p:txBody>
      </p:sp>
      <p:sp>
        <p:nvSpPr>
          <p:cNvPr id="11" name="Text 9"/>
          <p:cNvSpPr/>
          <p:nvPr>
            <p:custDataLst>
              <p:tags r:id="rId4"/>
            </p:custDataLst>
          </p:nvPr>
        </p:nvSpPr>
        <p:spPr>
          <a:xfrm>
            <a:off x="411480" y="3127248"/>
            <a:ext cx="2514600" cy="1371600"/>
          </a:xfrm>
          <a:prstGeom prst="rect">
            <a:avLst/>
          </a:prstGeom>
          <a:noFill/>
        </p:spPr>
        <p:txBody>
          <a:bodyPr wrap="square" rtlCol="0" anchor="ctr"/>
          <a:lstStyle/>
          <a:p>
            <a:pPr marL="0" indent="0" algn="ctr">
              <a:buNone/>
            </a:pPr>
            <a:endParaRPr lang="en-US" sz="1050"/>
          </a:p>
        </p:txBody>
      </p:sp>
      <p:sp>
        <p:nvSpPr>
          <p:cNvPr id="12" name="Shape 10"/>
          <p:cNvSpPr/>
          <p:nvPr>
            <p:custDataLst>
              <p:tags r:id="rId5"/>
            </p:custDataLst>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p:spPr>
        <p:txBody>
          <a:bodyPr wrap="square" rtlCol="0" anchor="ctr"/>
          <a:lstStyle/>
          <a:p>
            <a:pPr marL="0" indent="0" algn="ctr">
              <a:buNone/>
            </a:pPr>
            <a:r>
              <a:rPr lang="en-US" sz="3600">
                <a:solidFill>
                  <a:srgbClr val="000000"/>
                </a:solidFill>
              </a:rPr>
              <a:t>🖼</a:t>
            </a:r>
            <a:endParaRPr lang="en-US" sz="3600"/>
          </a:p>
        </p:txBody>
      </p:sp>
      <p:sp>
        <p:nvSpPr>
          <p:cNvPr id="14" name="Shape 12"/>
          <p:cNvSpPr/>
          <p:nvPr>
            <p:custDataLst>
              <p:tags r:id="rId6"/>
            </p:custDataLst>
          </p:nvPr>
        </p:nvSpPr>
        <p:spPr>
          <a:xfrm>
            <a:off x="3218688" y="2011680"/>
            <a:ext cx="2788920" cy="2651760"/>
          </a:xfrm>
          <a:prstGeom prst="rect">
            <a:avLst/>
          </a:prstGeom>
          <a:solidFill>
            <a:srgbClr val="1565C0"/>
          </a:solidFill>
          <a:effectLst>
            <a:outerShdw blurRad="101600" dist="38100" dir="8100000" algn="bl" rotWithShape="0">
              <a:srgbClr val="000000">
                <a:alpha val="15000"/>
              </a:srgbClr>
            </a:outerShdw>
          </a:effectLst>
        </p:spPr>
      </p:sp>
      <p:sp>
        <p:nvSpPr>
          <p:cNvPr id="15" name="Text 13"/>
          <p:cNvSpPr/>
          <p:nvPr>
            <p:custDataLst>
              <p:tags r:id="rId7"/>
            </p:custDataLst>
          </p:nvPr>
        </p:nvSpPr>
        <p:spPr>
          <a:xfrm>
            <a:off x="3218688" y="2651760"/>
            <a:ext cx="2788920" cy="411480"/>
          </a:xfrm>
          <a:prstGeom prst="rect">
            <a:avLst/>
          </a:prstGeom>
          <a:noFill/>
        </p:spPr>
        <p:txBody>
          <a:bodyPr wrap="square" rtlCol="0" anchor="ctr"/>
          <a:lstStyle/>
          <a:p>
            <a:pPr marL="0" indent="0" algn="ctr">
              <a:buNone/>
            </a:pPr>
            <a:r>
              <a:rPr lang="en-US" sz="1600" b="1">
                <a:solidFill>
                  <a:srgbClr val="FFFFFF"/>
                </a:solidFill>
                <a:latin typeface="Calibri" panose="020F0502020204030204" pitchFamily="34" charset="0"/>
                <a:ea typeface="Calibri" panose="020F0502020204030204" pitchFamily="34" charset="-122"/>
                <a:cs typeface="Calibri" panose="020F0502020204030204" pitchFamily="34" charset="-120"/>
              </a:rPr>
              <a:t>Demo 2</a:t>
            </a:r>
            <a:endParaRPr lang="en-US" sz="1600"/>
          </a:p>
        </p:txBody>
      </p:sp>
      <p:sp>
        <p:nvSpPr>
          <p:cNvPr id="16" name="Text 14"/>
          <p:cNvSpPr/>
          <p:nvPr>
            <p:custDataLst>
              <p:tags r:id="rId8"/>
            </p:custDataLst>
          </p:nvPr>
        </p:nvSpPr>
        <p:spPr>
          <a:xfrm>
            <a:off x="3355848" y="3127248"/>
            <a:ext cx="2514600" cy="1371600"/>
          </a:xfrm>
          <a:prstGeom prst="rect">
            <a:avLst/>
          </a:prstGeom>
          <a:noFill/>
        </p:spPr>
        <p:txBody>
          <a:bodyPr wrap="square" rtlCol="0" anchor="ctr"/>
          <a:lstStyle/>
          <a:p>
            <a:pPr marL="0" indent="0" algn="ctr">
              <a:buNone/>
            </a:pPr>
            <a:endParaRPr lang="en-US" sz="1050"/>
          </a:p>
        </p:txBody>
      </p:sp>
      <p:sp>
        <p:nvSpPr>
          <p:cNvPr id="17" name="Shape 15"/>
          <p:cNvSpPr/>
          <p:nvPr>
            <p:custDataLst>
              <p:tags r:id="rId9"/>
            </p:custDataLst>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p:spPr>
        <p:txBody>
          <a:bodyPr wrap="square" rtlCol="0" anchor="ctr"/>
          <a:lstStyle/>
          <a:p>
            <a:pPr marL="0" indent="0" algn="ctr">
              <a:buNone/>
            </a:pPr>
            <a:r>
              <a:rPr lang="en-US" sz="3600">
                <a:solidFill>
                  <a:srgbClr val="000000"/>
                </a:solidFill>
              </a:rPr>
              <a:t>🖼</a:t>
            </a:r>
            <a:endParaRPr lang="en-US" sz="3600"/>
          </a:p>
        </p:txBody>
      </p:sp>
      <p:sp>
        <p:nvSpPr>
          <p:cNvPr id="19" name="Shape 17"/>
          <p:cNvSpPr/>
          <p:nvPr>
            <p:custDataLst>
              <p:tags r:id="rId10"/>
            </p:custDataLst>
          </p:nvPr>
        </p:nvSpPr>
        <p:spPr>
          <a:xfrm>
            <a:off x="6163056" y="2011680"/>
            <a:ext cx="2788920" cy="2651760"/>
          </a:xfrm>
          <a:prstGeom prst="rect">
            <a:avLst/>
          </a:prstGeom>
          <a:solidFill>
            <a:srgbClr val="1565C0"/>
          </a:solidFill>
          <a:effectLst>
            <a:outerShdw blurRad="101600" dist="38100" dir="8100000" algn="bl" rotWithShape="0">
              <a:srgbClr val="000000">
                <a:alpha val="15000"/>
              </a:srgbClr>
            </a:outerShdw>
          </a:effectLst>
        </p:spPr>
      </p:sp>
      <p:sp>
        <p:nvSpPr>
          <p:cNvPr id="20" name="Text 18"/>
          <p:cNvSpPr/>
          <p:nvPr>
            <p:custDataLst>
              <p:tags r:id="rId11"/>
            </p:custDataLst>
          </p:nvPr>
        </p:nvSpPr>
        <p:spPr>
          <a:xfrm>
            <a:off x="6163056" y="2651760"/>
            <a:ext cx="2788920" cy="411480"/>
          </a:xfrm>
          <a:prstGeom prst="rect">
            <a:avLst/>
          </a:prstGeom>
          <a:noFill/>
        </p:spPr>
        <p:txBody>
          <a:bodyPr wrap="square" rtlCol="0" anchor="ctr"/>
          <a:lstStyle/>
          <a:p>
            <a:pPr marL="0" indent="0" algn="ctr">
              <a:buNone/>
            </a:pPr>
            <a:r>
              <a:rPr lang="en-US" sz="1600" b="1">
                <a:solidFill>
                  <a:srgbClr val="FFFFFF"/>
                </a:solidFill>
                <a:latin typeface="Calibri" panose="020F0502020204030204" pitchFamily="34" charset="0"/>
                <a:ea typeface="Calibri" panose="020F0502020204030204" pitchFamily="34" charset="-122"/>
                <a:cs typeface="Calibri" panose="020F0502020204030204" pitchFamily="34" charset="-120"/>
              </a:rPr>
              <a:t>Demo 3</a:t>
            </a:r>
            <a:endParaRPr lang="en-US" sz="1600"/>
          </a:p>
        </p:txBody>
      </p:sp>
      <p:sp>
        <p:nvSpPr>
          <p:cNvPr id="21" name="Text 19"/>
          <p:cNvSpPr/>
          <p:nvPr>
            <p:custDataLst>
              <p:tags r:id="rId12"/>
            </p:custDataLst>
          </p:nvPr>
        </p:nvSpPr>
        <p:spPr>
          <a:xfrm>
            <a:off x="6300216" y="3127248"/>
            <a:ext cx="2514600" cy="1371600"/>
          </a:xfrm>
          <a:prstGeom prst="rect">
            <a:avLst/>
          </a:prstGeom>
          <a:noFill/>
        </p:spPr>
        <p:txBody>
          <a:bodyPr wrap="square" rtlCol="0" anchor="ctr"/>
          <a:lstStyle/>
          <a:p>
            <a:pPr marL="0" indent="0" algn="ctr">
              <a:buNone/>
            </a:pPr>
            <a:r>
              <a:rPr lang="en-US" sz="1050">
                <a:solidFill>
                  <a:srgbClr val="FFFFFF"/>
                </a:solidFill>
                <a:latin typeface="Calibri" panose="020F0502020204030204" pitchFamily="34" charset="0"/>
                <a:ea typeface="Calibri" panose="020F0502020204030204" pitchFamily="34" charset="-122"/>
                <a:cs typeface="Calibri" panose="020F0502020204030204" pitchFamily="34" charset="-120"/>
              </a:rPr>
              <a:t>[Add description of Demo 3 here — what this demo shows, key features, and results achieved.]</a:t>
            </a:r>
            <a:endParaRPr lang="en-US" sz="1050"/>
          </a:p>
        </p:txBody>
      </p:sp>
      <p:pic>
        <p:nvPicPr>
          <p:cNvPr id="22" name="Picture 21"/>
          <p:cNvPicPr>
            <a:picLocks noChangeAspect="1"/>
          </p:cNvPicPr>
          <p:nvPr/>
        </p:nvPicPr>
        <p:blipFill>
          <a:blip r:embed="rId13"/>
          <a:stretch>
            <a:fillRect/>
          </a:stretch>
        </p:blipFill>
        <p:spPr>
          <a:xfrm>
            <a:off x="381000" y="2266950"/>
            <a:ext cx="2545080" cy="2119630"/>
          </a:xfrm>
          <a:prstGeom prst="rect">
            <a:avLst/>
          </a:prstGeom>
        </p:spPr>
      </p:pic>
      <p:pic>
        <p:nvPicPr>
          <p:cNvPr id="23" name="Picture 22"/>
          <p:cNvPicPr>
            <a:picLocks noChangeAspect="1"/>
          </p:cNvPicPr>
          <p:nvPr/>
        </p:nvPicPr>
        <p:blipFill>
          <a:blip r:embed="rId14"/>
          <a:stretch>
            <a:fillRect/>
          </a:stretch>
        </p:blipFill>
        <p:spPr>
          <a:xfrm>
            <a:off x="3255010" y="2205355"/>
            <a:ext cx="2706370" cy="2142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Text 4"/>
          <p:cNvSpPr/>
          <p:nvPr/>
        </p:nvSpPr>
        <p:spPr>
          <a:xfrm>
            <a:off x="4754880" y="123444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150"/>
          </a:p>
        </p:txBody>
      </p:sp>
      <p:sp>
        <p:nvSpPr>
          <p:cNvPr id="7" name="Text 5"/>
          <p:cNvSpPr/>
          <p:nvPr/>
        </p:nvSpPr>
        <p:spPr>
          <a:xfrm>
            <a:off x="4754880" y="163677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150"/>
          </a:p>
        </p:txBody>
      </p:sp>
      <p:sp>
        <p:nvSpPr>
          <p:cNvPr id="8" name="Text 6"/>
          <p:cNvSpPr/>
          <p:nvPr/>
        </p:nvSpPr>
        <p:spPr>
          <a:xfrm>
            <a:off x="4754880" y="203911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150"/>
          </a:p>
        </p:txBody>
      </p:sp>
      <p:sp>
        <p:nvSpPr>
          <p:cNvPr id="9" name="Text 7"/>
          <p:cNvSpPr/>
          <p:nvPr/>
        </p:nvSpPr>
        <p:spPr>
          <a:xfrm>
            <a:off x="4754880" y="2441448"/>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150"/>
          </a:p>
        </p:txBody>
      </p:sp>
      <p:sp>
        <p:nvSpPr>
          <p:cNvPr id="10" name="Text 8"/>
          <p:cNvSpPr/>
          <p:nvPr/>
        </p:nvSpPr>
        <p:spPr>
          <a:xfrm>
            <a:off x="4754880" y="2843784"/>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150"/>
          </a:p>
        </p:txBody>
      </p:sp>
      <p:sp>
        <p:nvSpPr>
          <p:cNvPr id="11" name="Text 9"/>
          <p:cNvSpPr/>
          <p:nvPr/>
        </p:nvSpPr>
        <p:spPr>
          <a:xfrm>
            <a:off x="4754880" y="324612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150"/>
          </a:p>
        </p:txBody>
      </p:sp>
      <p:sp>
        <p:nvSpPr>
          <p:cNvPr id="12" name="Text 10"/>
          <p:cNvSpPr/>
          <p:nvPr/>
        </p:nvSpPr>
        <p:spPr>
          <a:xfrm>
            <a:off x="4754880" y="3648456"/>
            <a:ext cx="4206240" cy="384048"/>
          </a:xfrm>
          <a:prstGeom prst="rect">
            <a:avLst/>
          </a:prstGeom>
          <a:noFill/>
        </p:spPr>
        <p:txBody>
          <a:bodyPr wrap="square" rtlCol="0" anchor="ctr"/>
          <a:lstStyle/>
          <a:p>
            <a:pPr marL="0" indent="0">
              <a:buNone/>
            </a:pPr>
            <a:r>
              <a:rPr lang="en-US" sz="1150" b="1">
                <a:solidFill>
                  <a:srgbClr val="1B3A8A"/>
                </a:solidFill>
                <a:latin typeface="Calibri" panose="020F0502020204030204" pitchFamily="34" charset="0"/>
                <a:ea typeface="Calibri" panose="020F0502020204030204" pitchFamily="34" charset="-122"/>
                <a:cs typeface="Calibri" panose="020F0502020204030204" pitchFamily="34" charset="-120"/>
              </a:rPr>
              <a:t>• Conclusion</a:t>
            </a:r>
            <a:endParaRPr lang="en-US" sz="1150"/>
          </a:p>
        </p:txBody>
      </p:sp>
      <p:sp>
        <p:nvSpPr>
          <p:cNvPr id="13" name="Text 11"/>
          <p:cNvSpPr/>
          <p:nvPr/>
        </p:nvSpPr>
        <p:spPr>
          <a:xfrm>
            <a:off x="4754880" y="405079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Future Scope</a:t>
            </a:r>
            <a:endParaRPr lang="en-US" sz="1150"/>
          </a:p>
        </p:txBody>
      </p:sp>
      <p:sp>
        <p:nvSpPr>
          <p:cNvPr id="14" name="Text 12"/>
          <p:cNvSpPr/>
          <p:nvPr/>
        </p:nvSpPr>
        <p:spPr>
          <a:xfrm>
            <a:off x="457200" y="1068070"/>
            <a:ext cx="4114800" cy="3641090"/>
          </a:xfrm>
          <a:prstGeom prst="rect">
            <a:avLst/>
          </a:prstGeom>
          <a:noFill/>
        </p:spPr>
        <p:txBody>
          <a:bodyPr wrap="square" rtlCol="0" anchor="t"/>
          <a:lstStyle/>
          <a:p>
            <a:pPr marL="0" indent="0">
              <a:buNone/>
            </a:pPr>
            <a:r>
              <a:rPr lang="en-US" altLang="en-US" sz="1300"/>
              <a:t>The project successfully developed a Banking Customer Account Dashboard for effective financial analysis. It helped in organizing and analyzing customer financial data in a structured manner. The dashboard provides clear and meaningful insights into income, expenses, and savings patterns, making financial information easy to understand. By using tools like Excel, Power BI, and AI, the analysis becomes more efficient and accurate. Overall, the system enables users to better understand their financial health through simple and interactive visualizations, supporting improved financial decision-making.the project helps users gain a deeper understanding of their financial behavior, enabling them to identify unnecessary expenses and potential financial risks. It also supports better financial planning by highlighting trends and patterns over time. The integration of AI tools enhances insight generation, making the system smarter and more efficient.</a:t>
            </a:r>
            <a:endParaRPr lang="en-US" altLang="en-US" sz="130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Shape 14"/>
          <p:cNvSpPr/>
          <p:nvPr/>
        </p:nvSpPr>
        <p:spPr>
          <a:xfrm>
            <a:off x="5394960" y="1005840"/>
            <a:ext cx="2834640" cy="2834640"/>
          </a:xfrm>
          <a:prstGeom prst="ellipse">
            <a:avLst/>
          </a:prstGeom>
          <a:solidFill>
            <a:srgbClr val="1B3A8A"/>
          </a:solidFill>
        </p:spPr>
      </p:sp>
      <p:sp>
        <p:nvSpPr>
          <p:cNvPr id="17" name="Text 15"/>
          <p:cNvSpPr/>
          <p:nvPr/>
        </p:nvSpPr>
        <p:spPr>
          <a:xfrm>
            <a:off x="5394960" y="1005840"/>
            <a:ext cx="2834640" cy="2194560"/>
          </a:xfrm>
          <a:prstGeom prst="rect">
            <a:avLst/>
          </a:prstGeom>
          <a:noFill/>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303520" y="3474720"/>
            <a:ext cx="3017520" cy="502920"/>
          </a:xfrm>
          <a:prstGeom prst="rect">
            <a:avLst/>
          </a:prstGeom>
          <a:solidFill>
            <a:srgbClr val="1565C0"/>
          </a:solidFill>
        </p:spPr>
      </p:sp>
      <p:sp>
        <p:nvSpPr>
          <p:cNvPr id="19" name="Text 17"/>
          <p:cNvSpPr/>
          <p:nvPr/>
        </p:nvSpPr>
        <p:spPr>
          <a:xfrm>
            <a:off x="5303520" y="3474720"/>
            <a:ext cx="3017520" cy="502920"/>
          </a:xfrm>
          <a:prstGeom prst="rect">
            <a:avLst/>
          </a:prstGeom>
          <a:noFill/>
        </p:spPr>
        <p:txBody>
          <a:bodyPr wrap="square" rtlCol="0" anchor="ctr"/>
          <a:lstStyle/>
          <a:p>
            <a:pPr marL="0" indent="0" algn="ctr">
              <a:buNone/>
            </a:pPr>
            <a:r>
              <a:rPr lang="en-US" sz="1600" b="1" kern="0" spc="20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7772400" y="45720"/>
            <a:ext cx="1280160"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a:solidFill>
                  <a:srgbClr val="1B3A8A"/>
                </a:solidFill>
                <a:latin typeface="Calibri" panose="020F0502020204030204" pitchFamily="34" charset="0"/>
                <a:ea typeface="Calibri" panose="020F0502020204030204" pitchFamily="34" charset="-122"/>
                <a:cs typeface="Calibri" panose="020F0502020204030204"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p:spPr>
      </p:sp>
      <p:sp>
        <p:nvSpPr>
          <p:cNvPr id="6" name="Text 4"/>
          <p:cNvSpPr/>
          <p:nvPr/>
        </p:nvSpPr>
        <p:spPr>
          <a:xfrm>
            <a:off x="4754880" y="123444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lang="en-US" sz="1150"/>
          </a:p>
        </p:txBody>
      </p:sp>
      <p:sp>
        <p:nvSpPr>
          <p:cNvPr id="7" name="Text 5"/>
          <p:cNvSpPr/>
          <p:nvPr/>
        </p:nvSpPr>
        <p:spPr>
          <a:xfrm>
            <a:off x="4754880" y="163677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150"/>
          </a:p>
        </p:txBody>
      </p:sp>
      <p:sp>
        <p:nvSpPr>
          <p:cNvPr id="8" name="Text 6"/>
          <p:cNvSpPr/>
          <p:nvPr/>
        </p:nvSpPr>
        <p:spPr>
          <a:xfrm>
            <a:off x="4754880" y="2039112"/>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150"/>
          </a:p>
        </p:txBody>
      </p:sp>
      <p:sp>
        <p:nvSpPr>
          <p:cNvPr id="9" name="Text 7"/>
          <p:cNvSpPr/>
          <p:nvPr/>
        </p:nvSpPr>
        <p:spPr>
          <a:xfrm>
            <a:off x="4754880" y="2441448"/>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150"/>
          </a:p>
        </p:txBody>
      </p:sp>
      <p:sp>
        <p:nvSpPr>
          <p:cNvPr id="10" name="Text 8"/>
          <p:cNvSpPr/>
          <p:nvPr/>
        </p:nvSpPr>
        <p:spPr>
          <a:xfrm>
            <a:off x="4754880" y="2843784"/>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lang="en-US" sz="1150"/>
          </a:p>
        </p:txBody>
      </p:sp>
      <p:sp>
        <p:nvSpPr>
          <p:cNvPr id="11" name="Text 9"/>
          <p:cNvSpPr/>
          <p:nvPr/>
        </p:nvSpPr>
        <p:spPr>
          <a:xfrm>
            <a:off x="4754880" y="3246120"/>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lang="en-US" sz="1150"/>
          </a:p>
        </p:txBody>
      </p:sp>
      <p:sp>
        <p:nvSpPr>
          <p:cNvPr id="12" name="Text 10"/>
          <p:cNvSpPr/>
          <p:nvPr/>
        </p:nvSpPr>
        <p:spPr>
          <a:xfrm>
            <a:off x="4754880" y="3648456"/>
            <a:ext cx="4206240" cy="384048"/>
          </a:xfrm>
          <a:prstGeom prst="rect">
            <a:avLst/>
          </a:prstGeom>
          <a:noFill/>
        </p:spPr>
        <p:txBody>
          <a:bodyPr wrap="square" rtlCol="0" anchor="ctr"/>
          <a:lstStyle/>
          <a:p>
            <a:pPr marL="0" indent="0">
              <a:buNone/>
            </a:pPr>
            <a:r>
              <a:rPr lang="en-US" sz="1150">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lang="en-US" sz="1150">
                <a:solidFill>
                  <a:srgbClr val="607D8B"/>
                </a:solidFill>
                <a:latin typeface="Calibri" panose="020F0502020204030204" pitchFamily="34" charset="0"/>
                <a:ea typeface="Calibri" panose="020F0502020204030204" pitchFamily="34" charset="-122"/>
                <a:cs typeface="Calibri" panose="020F0502020204030204" pitchFamily="34" charset="-120"/>
              </a:rPr>
              <a:t>Conclusion</a:t>
            </a:r>
            <a:endParaRPr lang="en-US" sz="1150"/>
          </a:p>
        </p:txBody>
      </p:sp>
      <p:sp>
        <p:nvSpPr>
          <p:cNvPr id="13" name="Text 11"/>
          <p:cNvSpPr/>
          <p:nvPr/>
        </p:nvSpPr>
        <p:spPr>
          <a:xfrm>
            <a:off x="4754880" y="4050792"/>
            <a:ext cx="4206240" cy="384048"/>
          </a:xfrm>
          <a:prstGeom prst="rect">
            <a:avLst/>
          </a:prstGeom>
          <a:noFill/>
        </p:spPr>
        <p:txBody>
          <a:bodyPr wrap="square" rtlCol="0" anchor="ctr"/>
          <a:lstStyle/>
          <a:p>
            <a:pPr marL="0" indent="0">
              <a:buNone/>
            </a:pPr>
            <a:r>
              <a:rPr lang="en-US" sz="1150" b="1">
                <a:solidFill>
                  <a:srgbClr val="1B3A8A"/>
                </a:solidFill>
                <a:latin typeface="Calibri" panose="020F0502020204030204" pitchFamily="34" charset="0"/>
                <a:ea typeface="Calibri" panose="020F0502020204030204" pitchFamily="34" charset="-122"/>
                <a:cs typeface="Calibri" panose="020F0502020204030204" pitchFamily="34" charset="-120"/>
              </a:rPr>
              <a:t>• Future Scope</a:t>
            </a:r>
            <a:endParaRPr lang="en-US" sz="1150"/>
          </a:p>
        </p:txBody>
      </p:sp>
      <p:sp>
        <p:nvSpPr>
          <p:cNvPr id="14" name="Text 12"/>
          <p:cNvSpPr/>
          <p:nvPr/>
        </p:nvSpPr>
        <p:spPr>
          <a:xfrm>
            <a:off x="457200" y="1089025"/>
            <a:ext cx="4114800" cy="3619500"/>
          </a:xfrm>
          <a:prstGeom prst="rect">
            <a:avLst/>
          </a:prstGeom>
          <a:noFill/>
        </p:spPr>
        <p:txBody>
          <a:bodyPr wrap="square" rtlCol="0" anchor="t"/>
          <a:lstStyle/>
          <a:p>
            <a:pPr marL="0" indent="0">
              <a:buNone/>
            </a:pPr>
            <a:r>
              <a:rPr lang="en-US" altLang="en-US" sz="1300"/>
              <a:t>Add real-time data integration from bank servers for live updates. Use advanced AI/ML models to predict future expenses and savings. Provide personalized financial advice based on user behavior. Develop a mobile application for easy access anytime, anywhere. Integrate with multiple bank accounts and UPI apps in one dashboard.The project can be further enhanced by integrating real-time data from bank servers, allowing users to access up-to-date financial information instantly. Advanced AI and machine learning models can be implemented to predict future expenses, savings, and financial trends, helping users plan better. The system can also be improved by providing personalized financial advice based on individual spending behavior and income patterns. Additionally, developing a mobile application would make the dashboard more accessible, enabling users to monitor their finances anytime and anywhere.</a:t>
            </a:r>
            <a:endParaRPr lang="en-US" altLang="en-US" sz="130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p:spPr>
        <p:txBody>
          <a:bodyPr wrap="square" rtlCol="0" anchor="ctr"/>
          <a:lstStyle/>
          <a:p>
            <a:pPr marL="0" indent="0" algn="ctr">
              <a:buNone/>
            </a:pPr>
            <a:r>
              <a:rPr lang="en-US" sz="10000">
                <a:solidFill>
                  <a:srgbClr val="000000"/>
                </a:solidFill>
              </a:rPr>
              <a:t>🧠</a:t>
            </a:r>
            <a:endParaRPr lang="en-US" sz="10000"/>
          </a:p>
        </p:txBody>
      </p:sp>
      <p:sp>
        <p:nvSpPr>
          <p:cNvPr id="17" name="Text 15"/>
          <p:cNvSpPr/>
          <p:nvPr/>
        </p:nvSpPr>
        <p:spPr>
          <a:xfrm>
            <a:off x="4846320" y="3703320"/>
            <a:ext cx="3931920" cy="320040"/>
          </a:xfrm>
          <a:prstGeom prst="rect">
            <a:avLst/>
          </a:prstGeom>
          <a:noFill/>
        </p:spPr>
        <p:txBody>
          <a:bodyPr wrap="square" rtlCol="0" anchor="ctr"/>
          <a:lstStyle/>
          <a:p>
            <a:pPr marL="0" indent="0" algn="ctr">
              <a:buNone/>
            </a:pPr>
            <a:r>
              <a:rPr lang="en-US" sz="1000" i="1">
                <a:solidFill>
                  <a:srgbClr val="607D8B"/>
                </a:solidFill>
                <a:latin typeface="Calibri" panose="020F0502020204030204" pitchFamily="34" charset="0"/>
                <a:ea typeface="Calibri" panose="020F0502020204030204" pitchFamily="34" charset="-122"/>
                <a:cs typeface="Calibri" panose="020F0502020204030204" pitchFamily="34" charset="-120"/>
              </a:rPr>
              <a:t>[Future ideas &amp; roadmap]</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p:spPr>
      </p:sp>
      <p:sp>
        <p:nvSpPr>
          <p:cNvPr id="3" name="Text 1"/>
          <p:cNvSpPr/>
          <p:nvPr/>
        </p:nvSpPr>
        <p:spPr>
          <a:xfrm>
            <a:off x="6305973" y="45720"/>
            <a:ext cx="2746587" cy="411480"/>
          </a:xfrm>
          <a:prstGeom prst="rect">
            <a:avLst/>
          </a:prstGeom>
          <a:noFill/>
        </p:spPr>
        <p:txBody>
          <a:bodyPr wrap="square" rtlCol="0" anchor="ctr"/>
          <a:lstStyle/>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lang="en-US" sz="800"/>
          </a:p>
          <a:p>
            <a:pPr marL="0" indent="0" algn="r">
              <a:buNone/>
            </a:pPr>
            <a:r>
              <a:rPr lang="en-US" sz="800" b="1">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lang="en-US" sz="800"/>
          </a:p>
        </p:txBody>
      </p:sp>
      <p:sp>
        <p:nvSpPr>
          <p:cNvPr id="4" name="Text 2"/>
          <p:cNvSpPr/>
          <p:nvPr/>
        </p:nvSpPr>
        <p:spPr>
          <a:xfrm>
            <a:off x="914400" y="1371600"/>
            <a:ext cx="7315200" cy="1463040"/>
          </a:xfrm>
          <a:prstGeom prst="rect">
            <a:avLst/>
          </a:prstGeom>
          <a:noFill/>
        </p:spPr>
        <p:txBody>
          <a:bodyPr wrap="square" rtlCol="0" anchor="ctr"/>
          <a:lstStyle/>
          <a:p>
            <a:pPr marL="0" indent="0" algn="ctr">
              <a:buNone/>
            </a:pPr>
            <a:r>
              <a:rPr lang="en-US" sz="7200" b="1">
                <a:solidFill>
                  <a:srgbClr val="1B3A8A"/>
                </a:solidFill>
                <a:latin typeface="Calibri" panose="020F0502020204030204" pitchFamily="34" charset="0"/>
                <a:ea typeface="Calibri" panose="020F0502020204030204" pitchFamily="34" charset="-122"/>
                <a:cs typeface="Calibri" panose="020F0502020204030204" pitchFamily="34" charset="-120"/>
              </a:rPr>
              <a:t>Thank You</a:t>
            </a:r>
            <a:endParaRPr lang="en-US" sz="7200"/>
          </a:p>
        </p:txBody>
      </p:sp>
      <p:sp>
        <p:nvSpPr>
          <p:cNvPr id="5" name="Text 3"/>
          <p:cNvSpPr/>
          <p:nvPr/>
        </p:nvSpPr>
        <p:spPr>
          <a:xfrm>
            <a:off x="914400" y="3017520"/>
            <a:ext cx="7315200" cy="411480"/>
          </a:xfrm>
          <a:prstGeom prst="rect">
            <a:avLst/>
          </a:prstGeom>
          <a:noFill/>
        </p:spPr>
        <p:txBody>
          <a:bodyPr wrap="square" rtlCol="0" anchor="ctr"/>
          <a:lstStyle/>
          <a:p>
            <a:pPr marL="0" indent="0" algn="ctr">
              <a:buNone/>
            </a:pPr>
            <a:r>
              <a:rPr lang="en-US" sz="1400" kern="0" spc="200">
                <a:solidFill>
                  <a:srgbClr val="1565C0"/>
                </a:solidFill>
                <a:latin typeface="Calibri" panose="020F0502020204030204" pitchFamily="34" charset="0"/>
                <a:ea typeface="Calibri" panose="020F0502020204030204" pitchFamily="34" charset="-122"/>
                <a:cs typeface="Calibri" panose="020F0502020204030204"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p:spPr>
        <p:txBody>
          <a:bodyPr wrap="square" lIns="91440" tIns="45720" rIns="91440" bIns="45720" rtlCol="0" anchor="ctr"/>
          <a:lstStyle/>
          <a:p>
            <a:pPr marL="0" indent="0" algn="ctr">
              <a:buNone/>
            </a:pPr>
            <a:r>
              <a:rPr lang="en-US" sz="1100">
                <a:solidFill>
                  <a:srgbClr val="607D8B"/>
                </a:solidFill>
                <a:latin typeface="Calibri" panose="020F0502020204030204"/>
                <a:ea typeface="Calibri" panose="020F0502020204030204"/>
                <a:cs typeface="Calibri" panose="020F0502020204030204"/>
              </a:rPr>
              <a:t>  LinkedIn  |   Edunet Foundation</a:t>
            </a:r>
            <a:endParaRPr lang="en-US" sz="1100"/>
          </a:p>
        </p:txBody>
      </p:sp>
      <p:sp>
        <p:nvSpPr>
          <p:cNvPr id="7" name="Shape 5"/>
          <p:cNvSpPr/>
          <p:nvPr/>
        </p:nvSpPr>
        <p:spPr>
          <a:xfrm>
            <a:off x="0" y="4983480"/>
            <a:ext cx="9144000" cy="160020"/>
          </a:xfrm>
          <a:prstGeom prst="rect">
            <a:avLst/>
          </a:prstGeom>
          <a:solidFill>
            <a:srgbClr val="1B3A8A"/>
          </a:solidFill>
        </p:spPr>
      </p:sp>
    </p:spTree>
  </p:cSld>
  <p:clrMapOvr>
    <a:masterClrMapping/>
  </p:clrMapOvr>
</p:sld>
</file>

<file path=ppt/tags/tag1.xml><?xml version="1.0" encoding="utf-8"?>
<p:tagLst xmlns:p="http://schemas.openxmlformats.org/presentationml/2006/main">
  <p:tag name="KSO_WM_DIAGRAM_VIRTUALLY_FRAME" val="{&quot;height&quot;:273.6,&quot;left&quot;:21.6,&quot;top&quot;:86.4,&quot;width&quot;:684}"/>
</p:tagLst>
</file>

<file path=ppt/tags/tag2.xml><?xml version="1.0" encoding="utf-8"?>
<p:tagLst xmlns:p="http://schemas.openxmlformats.org/presentationml/2006/main">
  <p:tag name="KSO_WM_DIAGRAM_VIRTUALLY_FRAME" val="{&quot;height&quot;:273.6,&quot;left&quot;:21.6,&quot;top&quot;:86.4,&quot;width&quot;:684}"/>
</p:tagLst>
</file>

<file path=ppt/tags/tag3.xml><?xml version="1.0" encoding="utf-8"?>
<p:tagLst xmlns:p="http://schemas.openxmlformats.org/presentationml/2006/main">
  <p:tag name="KSO_WM_DIAGRAM_VIRTUALLY_FRAME" val="{&quot;height&quot;:273.6,&quot;left&quot;:21.6,&quot;top&quot;:86.4,&quot;width&quot;:684}"/>
</p:tagLst>
</file>

<file path=ppt/tags/tag4.xml><?xml version="1.0" encoding="utf-8"?>
<p:tagLst xmlns:p="http://schemas.openxmlformats.org/presentationml/2006/main">
  <p:tag name="KSO_WM_DIAGRAM_VIRTUALLY_FRAME" val="{&quot;height&quot;:273.6,&quot;left&quot;:21.6,&quot;top&quot;:86.4,&quot;width&quot;:684}"/>
</p:tagLst>
</file>

<file path=ppt/tags/tag5.xml><?xml version="1.0" encoding="utf-8"?>
<p:tagLst xmlns:p="http://schemas.openxmlformats.org/presentationml/2006/main">
  <p:tag name="KSO_WM_DIAGRAM_VIRTUALLY_FRAME" val="{&quot;height&quot;:273.6,&quot;left&quot;:21.6,&quot;top&quot;:86.4,&quot;width&quot;:684}"/>
</p:tagLst>
</file>

<file path=ppt/tags/tag6.xml><?xml version="1.0" encoding="utf-8"?>
<p:tagLst xmlns:p="http://schemas.openxmlformats.org/presentationml/2006/main">
  <p:tag name="KSO_WM_DIAGRAM_VIRTUALLY_FRAME" val="{&quot;height&quot;:273.6,&quot;left&quot;:21.6,&quot;top&quot;:86.4,&quot;width&quot;:684}"/>
</p:tagLst>
</file>

<file path=ppt/tags/tag7.xml><?xml version="1.0" encoding="utf-8"?>
<p:tagLst xmlns:p="http://schemas.openxmlformats.org/presentationml/2006/main">
  <p:tag name="KSO_WM_DIAGRAM_VIRTUALLY_FRAME" val="{&quot;height&quot;:273.6,&quot;left&quot;:21.6,&quot;top&quot;:86.4,&quot;width&quot;:684}"/>
</p:tagLst>
</file>

<file path=ppt/tags/tag8.xml><?xml version="1.0" encoding="utf-8"?>
<p:tagLst xmlns:p="http://schemas.openxmlformats.org/presentationml/2006/main">
  <p:tag name="KSO_WM_DIAGRAM_VIRTUALLY_FRAME" val="{&quot;height&quot;:273.6,&quot;left&quot;:21.6,&quot;top&quot;:86.4,&quot;width&quot;:684}"/>
</p:tagLst>
</file>

<file path=ppt/tags/tag9.xml><?xml version="1.0" encoding="utf-8"?>
<p:tagLst xmlns:p="http://schemas.openxmlformats.org/presentationml/2006/main">
  <p:tag name="KSO_WM_DIAGRAM_VIRTUALLY_FRAME" val="{&quot;height&quot;:273.6,&quot;left&quot;:21.6,&quot;top&quot;:86.4,&quot;width&quot;:684}"/>
</p:tagLst>
</file>

<file path=ppt/tags/tag10.xml><?xml version="1.0" encoding="utf-8"?>
<p:tagLst xmlns:p="http://schemas.openxmlformats.org/presentationml/2006/main">
  <p:tag name="KSO_WM_DIAGRAM_VIRTUALLY_FRAME" val="{&quot;height&quot;:273.6,&quot;left&quot;:21.6,&quot;top&quot;:86.4,&quot;width&quot;:684}"/>
</p:tagLst>
</file>

<file path=ppt/tags/tag11.xml><?xml version="1.0" encoding="utf-8"?>
<p:tagLst xmlns:p="http://schemas.openxmlformats.org/presentationml/2006/main">
  <p:tag name="KSO_WM_DIAGRAM_VIRTUALLY_FRAME" val="{&quot;height&quot;:273.6,&quot;left&quot;:21.6,&quot;top&quot;:86.4,&quot;width&quot;:684}"/>
</p:tagLst>
</file>

<file path=ppt/tags/tag12.xml><?xml version="1.0" encoding="utf-8"?>
<p:tagLst xmlns:p="http://schemas.openxmlformats.org/presentationml/2006/main">
  <p:tag name="KSO_WM_DIAGRAM_VIRTUALLY_FRAME" val="{&quot;height&quot;:273.6,&quot;left&quot;:21.6,&quot;top&quot;:86.4,&quot;width&quot;:684}"/>
</p:tagLst>
</file>

<file path=ppt/tags/tag13.xml><?xml version="1.0" encoding="utf-8"?>
<p:tagLst xmlns:p="http://schemas.openxmlformats.org/presentationml/2006/main">
  <p:tag name="KSO_WM_DIAGRAM_VIRTUALLY_FRAME" val="{&quot;height&quot;:273.6,&quot;left&quot;:21.6,&quot;top&quot;:86.4,&quot;width&quot;:684}"/>
</p:tagLst>
</file>

<file path=ppt/tags/tag14.xml><?xml version="1.0" encoding="utf-8"?>
<p:tagLst xmlns:p="http://schemas.openxmlformats.org/presentationml/2006/main">
  <p:tag name="KSO_WM_DIAGRAM_VIRTUALLY_FRAME" val="{&quot;height&quot;:273.6,&quot;left&quot;:21.6,&quot;top&quot;:86.4,&quot;width&quot;:684}"/>
</p:tagLst>
</file>

<file path=ppt/tags/tag15.xml><?xml version="1.0" encoding="utf-8"?>
<p:tagLst xmlns:p="http://schemas.openxmlformats.org/presentationml/2006/main">
  <p:tag name="KSO_WM_DIAGRAM_VIRTUALLY_FRAME" val="{&quot;height&quot;:273.6,&quot;left&quot;:21.6,&quot;top&quot;:86.4,&quot;width&quot;:684}"/>
</p:tagLst>
</file>

<file path=ppt/tags/tag16.xml><?xml version="1.0" encoding="utf-8"?>
<p:tagLst xmlns:p="http://schemas.openxmlformats.org/presentationml/2006/main">
  <p:tag name="KSO_WM_DIAGRAM_VIRTUALLY_FRAME" val="{&quot;height&quot;:273.6,&quot;left&quot;:21.6,&quot;top&quot;:86.4,&quot;width&quot;:684}"/>
</p:tagLst>
</file>

<file path=ppt/tags/tag17.xml><?xml version="1.0" encoding="utf-8"?>
<p:tagLst xmlns:p="http://schemas.openxmlformats.org/presentationml/2006/main">
  <p:tag name="KSO_WM_DIAGRAM_VIRTUALLY_FRAME" val="{&quot;height&quot;:252,&quot;left&quot;:21.6,&quot;top&quot;:115.2,&quot;width&quot;:683.28}"/>
</p:tagLst>
</file>

<file path=ppt/tags/tag18.xml><?xml version="1.0" encoding="utf-8"?>
<p:tagLst xmlns:p="http://schemas.openxmlformats.org/presentationml/2006/main">
  <p:tag name="KSO_WM_DIAGRAM_VIRTUALLY_FRAME" val="{&quot;height&quot;:252,&quot;left&quot;:21.6,&quot;top&quot;:115.2,&quot;width&quot;:683.28}"/>
</p:tagLst>
</file>

<file path=ppt/tags/tag19.xml><?xml version="1.0" encoding="utf-8"?>
<p:tagLst xmlns:p="http://schemas.openxmlformats.org/presentationml/2006/main">
  <p:tag name="KSO_WM_DIAGRAM_VIRTUALLY_FRAME" val="{&quot;height&quot;:252,&quot;left&quot;:21.6,&quot;top&quot;:115.2,&quot;width&quot;:683.28}"/>
</p:tagLst>
</file>

<file path=ppt/tags/tag20.xml><?xml version="1.0" encoding="utf-8"?>
<p:tagLst xmlns:p="http://schemas.openxmlformats.org/presentationml/2006/main">
  <p:tag name="KSO_WM_DIAGRAM_VIRTUALLY_FRAME" val="{&quot;height&quot;:252,&quot;left&quot;:21.6,&quot;top&quot;:115.2,&quot;width&quot;:683.28}"/>
</p:tagLst>
</file>

<file path=ppt/tags/tag21.xml><?xml version="1.0" encoding="utf-8"?>
<p:tagLst xmlns:p="http://schemas.openxmlformats.org/presentationml/2006/main">
  <p:tag name="KSO_WM_DIAGRAM_VIRTUALLY_FRAME" val="{&quot;height&quot;:252,&quot;left&quot;:21.6,&quot;top&quot;:115.2,&quot;width&quot;:683.28}"/>
</p:tagLst>
</file>

<file path=ppt/tags/tag22.xml><?xml version="1.0" encoding="utf-8"?>
<p:tagLst xmlns:p="http://schemas.openxmlformats.org/presentationml/2006/main">
  <p:tag name="KSO_WM_DIAGRAM_VIRTUALLY_FRAME" val="{&quot;height&quot;:252,&quot;left&quot;:21.6,&quot;top&quot;:115.2,&quot;width&quot;:683.28}"/>
</p:tagLst>
</file>

<file path=ppt/tags/tag23.xml><?xml version="1.0" encoding="utf-8"?>
<p:tagLst xmlns:p="http://schemas.openxmlformats.org/presentationml/2006/main">
  <p:tag name="KSO_WM_DIAGRAM_VIRTUALLY_FRAME" val="{&quot;height&quot;:252,&quot;left&quot;:21.6,&quot;top&quot;:115.2,&quot;width&quot;:683.28}"/>
</p:tagLst>
</file>

<file path=ppt/tags/tag24.xml><?xml version="1.0" encoding="utf-8"?>
<p:tagLst xmlns:p="http://schemas.openxmlformats.org/presentationml/2006/main">
  <p:tag name="KSO_WM_DIAGRAM_VIRTUALLY_FRAME" val="{&quot;height&quot;:252,&quot;left&quot;:21.6,&quot;top&quot;:115.2,&quot;width&quot;:683.28}"/>
</p:tagLst>
</file>

<file path=ppt/tags/tag25.xml><?xml version="1.0" encoding="utf-8"?>
<p:tagLst xmlns:p="http://schemas.openxmlformats.org/presentationml/2006/main">
  <p:tag name="KSO_WM_DIAGRAM_VIRTUALLY_FRAME" val="{&quot;height&quot;:252,&quot;left&quot;:21.6,&quot;top&quot;:115.2,&quot;width&quot;:683.28}"/>
</p:tagLst>
</file>

<file path=ppt/tags/tag26.xml><?xml version="1.0" encoding="utf-8"?>
<p:tagLst xmlns:p="http://schemas.openxmlformats.org/presentationml/2006/main">
  <p:tag name="KSO_WM_DIAGRAM_VIRTUALLY_FRAME" val="{&quot;height&quot;:252,&quot;left&quot;:21.6,&quot;top&quot;:115.2,&quot;width&quot;:683.28}"/>
</p:tagLst>
</file>

<file path=ppt/tags/tag27.xml><?xml version="1.0" encoding="utf-8"?>
<p:tagLst xmlns:p="http://schemas.openxmlformats.org/presentationml/2006/main">
  <p:tag name="KSO_WM_DIAGRAM_VIRTUALLY_FRAME" val="{&quot;height&quot;:252,&quot;left&quot;:21.6,&quot;top&quot;:115.2,&quot;width&quot;:683.28}"/>
</p:tagLst>
</file>

<file path=ppt/tags/tag28.xml><?xml version="1.0" encoding="utf-8"?>
<p:tagLst xmlns:p="http://schemas.openxmlformats.org/presentationml/2006/main">
  <p:tag name="KSO_WM_DIAGRAM_VIRTUALLY_FRAME" val="{&quot;height&quot;:252,&quot;left&quot;:21.6,&quot;top&quot;:115.2,&quot;width&quot;:683.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5754</Words>
  <Application>WPS Presentation</Application>
  <PresentationFormat>On-screen Show (16:9)</PresentationFormat>
  <Paragraphs>219</Paragraphs>
  <Slides>11</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Calibri</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creator>PptxGenJS</dc:creator>
  <dc:subject>PptxGenJS Presentation</dc:subject>
  <cp:lastModifiedBy>LAHARI</cp:lastModifiedBy>
  <cp:revision>7</cp:revision>
  <dcterms:created xsi:type="dcterms:W3CDTF">2026-02-18T09:17:00Z</dcterms:created>
  <dcterms:modified xsi:type="dcterms:W3CDTF">2026-04-10T16:15:13Z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36355E2BBB954BF99F66CF29193EA4EC_13</vt:lpwstr>
  </property>
  <property fmtid="{D5CDD505-2E9C-101B-9397-08002B2CF9AE}" pid="3" name="KSOProductBuildVer">
    <vt:lpwstr>1033-12.2.0.23196</vt:lpwstr>
  </property>
</Properties>
</file>