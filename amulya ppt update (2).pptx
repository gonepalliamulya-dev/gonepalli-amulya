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p:sldMasterIdLst>
    <p:sldMasterId id="2147483648" r:id="rId1"/>
  </p:sldMasterIdLst>
  <p:notesMasterIdLst>
    <p:notesMasterId r:id="rId2"/>
  </p:notesMasterIdLst>
  <p:sldIdLst>
    <p:sldId id="258" r:id="rId3"/>
    <p:sldId id="257" r:id="rId4"/>
    <p:sldId id="259" r:id="rId5"/>
    <p:sldId id="260" r:id="rId6"/>
    <p:sldId id="261" r:id="rId7"/>
    <p:sldId id="262" r:id="rId8"/>
    <p:sldId id="263" r:id="rId9"/>
    <p:sldId id="264" r:id="rId10"/>
    <p:sldId id="265" r:id="rId11"/>
    <p:sldId id="266" r:id="rId12"/>
    <p:sldId id="268" r:id="rId13"/>
  </p:sldIdLst>
  <p:sldSz type="screen16x9" cy="5143500" cx="9144000"/>
  <p:notesSz cx="5143500" cy="9144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p:scale>
          <a:sx n="0" d="0"/>
          <a:sy n="0" d="0"/>
        </p:scale>
        <p:origin x="0" y="0"/>
      </p:cViewPr>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9"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613" name="Slide Image Placeholder 1"/>
          <p:cNvSpPr>
            <a:spLocks noChangeAspect="1" noRot="1" noGrp="1"/>
          </p:cNvSpPr>
          <p:nvPr>
            <p:ph type="sldImg"/>
          </p:nvPr>
        </p:nvSpPr>
        <p:spPr/>
      </p:sp>
      <p:sp>
        <p:nvSpPr>
          <p:cNvPr id="1048614" name="Notes Placeholder 2"/>
          <p:cNvSpPr>
            <a:spLocks noGrp="1"/>
          </p:cNvSpPr>
          <p:nvPr>
            <p:ph type="body" idx="1"/>
          </p:nvPr>
        </p:nvSpPr>
        <p:spPr/>
        <p:txBody>
          <a:bodyPr/>
          <a:p>
            <a:endParaRPr lang="en-US"/>
          </a:p>
        </p:txBody>
      </p:sp>
      <p:sp>
        <p:nvSpPr>
          <p:cNvPr id="1048615"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6" name="Slide Image Placeholder 1"/>
          <p:cNvSpPr>
            <a:spLocks noChangeAspect="1" noRot="1" noGrp="1"/>
          </p:cNvSpPr>
          <p:nvPr>
            <p:ph type="sldImg"/>
          </p:nvPr>
        </p:nvSpPr>
        <p:spPr/>
      </p:sp>
      <p:sp>
        <p:nvSpPr>
          <p:cNvPr id="1048587" name="Notes Placeholder 2"/>
          <p:cNvSpPr>
            <a:spLocks noGrp="1"/>
          </p:cNvSpPr>
          <p:nvPr>
            <p:ph type="body" idx="1"/>
          </p:nvPr>
        </p:nvSpPr>
        <p:spPr/>
        <p:txBody>
          <a:bodyPr/>
          <a:p>
            <a:endParaRPr lang="en-US"/>
          </a:p>
        </p:txBody>
      </p:sp>
      <p:sp>
        <p:nvSpPr>
          <p:cNvPr id="1048588"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628" name="Slide Image Placeholder 1"/>
          <p:cNvSpPr>
            <a:spLocks noChangeAspect="1" noRot="1" noGrp="1"/>
          </p:cNvSpPr>
          <p:nvPr>
            <p:ph type="sldImg"/>
          </p:nvPr>
        </p:nvSpPr>
        <p:spPr/>
      </p:sp>
      <p:sp>
        <p:nvSpPr>
          <p:cNvPr id="1048629" name="Notes Placeholder 2"/>
          <p:cNvSpPr>
            <a:spLocks noGrp="1"/>
          </p:cNvSpPr>
          <p:nvPr>
            <p:ph type="body" idx="1"/>
          </p:nvPr>
        </p:nvSpPr>
        <p:spPr/>
        <p:txBody>
          <a:bodyPr/>
          <a:p>
            <a:endParaRPr lang="en-US"/>
          </a:p>
        </p:txBody>
      </p:sp>
      <p:sp>
        <p:nvSpPr>
          <p:cNvPr id="1048630"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641" name="Slide Image Placeholder 1"/>
          <p:cNvSpPr>
            <a:spLocks noChangeAspect="1" noRot="1" noGrp="1"/>
          </p:cNvSpPr>
          <p:nvPr>
            <p:ph type="sldImg"/>
          </p:nvPr>
        </p:nvSpPr>
        <p:spPr/>
      </p:sp>
      <p:sp>
        <p:nvSpPr>
          <p:cNvPr id="1048642" name="Notes Placeholder 2"/>
          <p:cNvSpPr>
            <a:spLocks noGrp="1"/>
          </p:cNvSpPr>
          <p:nvPr>
            <p:ph type="body" idx="1"/>
          </p:nvPr>
        </p:nvSpPr>
        <p:spPr/>
        <p:txBody>
          <a:bodyPr/>
          <a:p>
            <a:endParaRPr lang="en-US"/>
          </a:p>
        </p:txBody>
      </p:sp>
      <p:sp>
        <p:nvSpPr>
          <p:cNvPr id="1048643"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50" name="Slide Image Placeholder 1"/>
          <p:cNvSpPr>
            <a:spLocks noChangeAspect="1" noRot="1" noGrp="1"/>
          </p:cNvSpPr>
          <p:nvPr>
            <p:ph type="sldImg"/>
          </p:nvPr>
        </p:nvSpPr>
        <p:spPr/>
      </p:sp>
      <p:sp>
        <p:nvSpPr>
          <p:cNvPr id="1048651" name="Notes Placeholder 2"/>
          <p:cNvSpPr>
            <a:spLocks noGrp="1"/>
          </p:cNvSpPr>
          <p:nvPr>
            <p:ph type="body" idx="1"/>
          </p:nvPr>
        </p:nvSpPr>
        <p:spPr/>
        <p:txBody>
          <a:bodyPr/>
          <a:p>
            <a:endParaRPr lang="en-US"/>
          </a:p>
        </p:txBody>
      </p:sp>
      <p:sp>
        <p:nvSpPr>
          <p:cNvPr id="1048652"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73" name="Slide Image Placeholder 1"/>
          <p:cNvSpPr>
            <a:spLocks noChangeAspect="1" noRot="1" noGrp="1"/>
          </p:cNvSpPr>
          <p:nvPr>
            <p:ph type="sldImg"/>
          </p:nvPr>
        </p:nvSpPr>
        <p:spPr/>
      </p:sp>
      <p:sp>
        <p:nvSpPr>
          <p:cNvPr id="1048674" name="Notes Placeholder 2"/>
          <p:cNvSpPr>
            <a:spLocks noGrp="1"/>
          </p:cNvSpPr>
          <p:nvPr>
            <p:ph type="body" idx="1"/>
          </p:nvPr>
        </p:nvSpPr>
        <p:spPr/>
        <p:txBody>
          <a:bodyPr/>
          <a:p>
            <a:endParaRPr lang="en-US"/>
          </a:p>
        </p:txBody>
      </p:sp>
      <p:sp>
        <p:nvSpPr>
          <p:cNvPr id="1048675"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90" name="Slide Image Placeholder 1"/>
          <p:cNvSpPr>
            <a:spLocks noChangeAspect="1" noRot="1" noGrp="1"/>
          </p:cNvSpPr>
          <p:nvPr>
            <p:ph type="sldImg"/>
          </p:nvPr>
        </p:nvSpPr>
        <p:spPr/>
      </p:sp>
      <p:sp>
        <p:nvSpPr>
          <p:cNvPr id="1048691" name="Notes Placeholder 2"/>
          <p:cNvSpPr>
            <a:spLocks noGrp="1"/>
          </p:cNvSpPr>
          <p:nvPr>
            <p:ph type="body" idx="1"/>
          </p:nvPr>
        </p:nvSpPr>
        <p:spPr/>
        <p:txBody>
          <a:bodyPr/>
          <a:p>
            <a:endParaRPr lang="en-US"/>
          </a:p>
        </p:txBody>
      </p:sp>
      <p:sp>
        <p:nvSpPr>
          <p:cNvPr id="1048692"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713" name="Slide Image Placeholder 1"/>
          <p:cNvSpPr>
            <a:spLocks noChangeAspect="1" noRot="1" noGrp="1"/>
          </p:cNvSpPr>
          <p:nvPr>
            <p:ph type="sldImg"/>
          </p:nvPr>
        </p:nvSpPr>
        <p:spPr/>
      </p:sp>
      <p:sp>
        <p:nvSpPr>
          <p:cNvPr id="1048714" name="Notes Placeholder 2"/>
          <p:cNvSpPr>
            <a:spLocks noGrp="1"/>
          </p:cNvSpPr>
          <p:nvPr>
            <p:ph type="body" idx="1"/>
          </p:nvPr>
        </p:nvSpPr>
        <p:spPr/>
        <p:txBody>
          <a:bodyPr/>
          <a:p>
            <a:endParaRPr lang="en-US"/>
          </a:p>
        </p:txBody>
      </p:sp>
      <p:sp>
        <p:nvSpPr>
          <p:cNvPr id="1048715"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734" name="Slide Image Placeholder 1"/>
          <p:cNvSpPr>
            <a:spLocks noChangeAspect="1" noRot="1" noGrp="1"/>
          </p:cNvSpPr>
          <p:nvPr>
            <p:ph type="sldImg"/>
          </p:nvPr>
        </p:nvSpPr>
        <p:spPr/>
      </p:sp>
      <p:sp>
        <p:nvSpPr>
          <p:cNvPr id="1048735" name="Notes Placeholder 2"/>
          <p:cNvSpPr>
            <a:spLocks noGrp="1"/>
          </p:cNvSpPr>
          <p:nvPr>
            <p:ph type="body" idx="1"/>
          </p:nvPr>
        </p:nvSpPr>
        <p:spPr/>
        <p:txBody>
          <a:bodyPr/>
          <a:p>
            <a:endParaRPr lang="en-US"/>
          </a:p>
        </p:txBody>
      </p:sp>
      <p:sp>
        <p:nvSpPr>
          <p:cNvPr id="1048736"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753" name="Slide Image Placeholder 1"/>
          <p:cNvSpPr>
            <a:spLocks noChangeAspect="1" noRot="1" noGrp="1"/>
          </p:cNvSpPr>
          <p:nvPr>
            <p:ph type="sldImg"/>
          </p:nvPr>
        </p:nvSpPr>
        <p:spPr/>
      </p:sp>
      <p:sp>
        <p:nvSpPr>
          <p:cNvPr id="1048754" name="Notes Placeholder 2"/>
          <p:cNvSpPr>
            <a:spLocks noGrp="1"/>
          </p:cNvSpPr>
          <p:nvPr>
            <p:ph type="body" idx="1"/>
          </p:nvPr>
        </p:nvSpPr>
        <p:spPr/>
        <p:txBody>
          <a:bodyPr/>
          <a:p>
            <a:endParaRPr lang="en-US"/>
          </a:p>
        </p:txBody>
      </p:sp>
      <p:sp>
        <p:nvSpPr>
          <p:cNvPr id="1048755"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762" name="Slide Image Placeholder 1"/>
          <p:cNvSpPr>
            <a:spLocks noChangeAspect="1" noRot="1" noGrp="1"/>
          </p:cNvSpPr>
          <p:nvPr>
            <p:ph type="sldImg"/>
          </p:nvPr>
        </p:nvSpPr>
        <p:spPr/>
      </p:sp>
      <p:sp>
        <p:nvSpPr>
          <p:cNvPr id="1048763" name="Notes Placeholder 2"/>
          <p:cNvSpPr>
            <a:spLocks noGrp="1"/>
          </p:cNvSpPr>
          <p:nvPr>
            <p:ph type="body" idx="1"/>
          </p:nvPr>
        </p:nvSpPr>
        <p:spPr/>
        <p:txBody>
          <a:bodyPr/>
          <a:p>
            <a:endParaRPr lang="en-US"/>
          </a:p>
        </p:txBody>
      </p:sp>
      <p:sp>
        <p:nvSpPr>
          <p:cNvPr id="1048764" name="Slide Number Placeholder 3"/>
          <p:cNvSpPr>
            <a:spLocks noGrp="1"/>
          </p:cNvSpPr>
          <p:nvPr>
            <p:ph type="sldNum" sz="quarter" idx="10"/>
          </p:nvPr>
        </p:nvSpPr>
        <p:spPr/>
        <p:txBody>
          <a:bodyPr/>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anose="020B0604020202020204"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anose="020B0604020202020204"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anose="020B0604020202020204"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anose="020B0604020202020204"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anose="020B0604020202020204"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anose="020B0604020202020204"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anose="020B0604020202020204"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anose="020B0604020202020204"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tags" Target="../tags/tag18.xml"/><Relationship Id="rId3" Type="http://schemas.openxmlformats.org/officeDocument/2006/relationships/tags" Target="../tags/tag19.xml"/><Relationship Id="rId4" Type="http://schemas.openxmlformats.org/officeDocument/2006/relationships/tags" Target="../tags/tag20.xml"/><Relationship Id="rId5" Type="http://schemas.openxmlformats.org/officeDocument/2006/relationships/tags" Target="../tags/tag21.xml"/><Relationship Id="rId6" Type="http://schemas.openxmlformats.org/officeDocument/2006/relationships/tags" Target="../tags/tag22.xml"/><Relationship Id="rId7" Type="http://schemas.openxmlformats.org/officeDocument/2006/relationships/tags" Target="../tags/tag23.xml"/><Relationship Id="rId8" Type="http://schemas.openxmlformats.org/officeDocument/2006/relationships/tags" Target="../tags/tag24.xml"/><Relationship Id="rId9" Type="http://schemas.openxmlformats.org/officeDocument/2006/relationships/tags" Target="../tags/tag25.xml"/><Relationship Id="rId10" Type="http://schemas.openxmlformats.org/officeDocument/2006/relationships/tags" Target="../tags/tag26.xml"/><Relationship Id="rId11" Type="http://schemas.openxmlformats.org/officeDocument/2006/relationships/tags" Target="../tags/tag27.xml"/><Relationship Id="rId12" Type="http://schemas.openxmlformats.org/officeDocument/2006/relationships/tags" Target="../tags/tag28.xm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9" name=""/>
        <p:cNvGrpSpPr/>
        <p:nvPr/>
      </p:nvGrpSpPr>
      <p:grpSpPr>
        <a:xfrm>
          <a:off x="0" y="0"/>
          <a:ext cx="0" cy="0"/>
          <a:chOff x="0" y="0"/>
          <a:chExt cx="0" cy="0"/>
        </a:xfrm>
      </p:grpSpPr>
      <p:sp>
        <p:nvSpPr>
          <p:cNvPr id="1048589" name="Shape 0"/>
          <p:cNvSpPr/>
          <p:nvPr/>
        </p:nvSpPr>
        <p:spPr>
          <a:xfrm>
            <a:off x="0" y="0"/>
            <a:ext cx="9144000" cy="685800"/>
          </a:xfrm>
          <a:prstGeom prst="rect"/>
          <a:solidFill>
            <a:srgbClr val="FFFFFF"/>
          </a:solidFill>
        </p:spPr>
      </p:sp>
      <p:sp>
        <p:nvSpPr>
          <p:cNvPr id="1048590" name="Shape 1"/>
          <p:cNvSpPr/>
          <p:nvPr/>
        </p:nvSpPr>
        <p:spPr>
          <a:xfrm>
            <a:off x="320040" y="91440"/>
            <a:ext cx="4572000" cy="502920"/>
          </a:xfrm>
          <a:prstGeom prst="rect"/>
          <a:solidFill>
            <a:srgbClr val="FFFFFF"/>
          </a:solidFill>
          <a:ln w="12700">
            <a:solidFill>
              <a:srgbClr val="CCCCCC"/>
            </a:solidFill>
            <a:prstDash val="solid"/>
          </a:ln>
        </p:spPr>
      </p:sp>
      <p:sp>
        <p:nvSpPr>
          <p:cNvPr id="1048591" name="Text 2"/>
          <p:cNvSpPr/>
          <p:nvPr/>
        </p:nvSpPr>
        <p:spPr>
          <a:xfrm>
            <a:off x="365760" y="137160"/>
            <a:ext cx="4480560" cy="411480"/>
          </a:xfrm>
          <a:prstGeom prst="rect"/>
          <a:noFill/>
        </p:spPr>
        <p:txBody>
          <a:bodyPr anchor="ctr" rtlCol="0" wrap="square"/>
          <a:p>
            <a:pPr indent="0" marL="0">
              <a:buNone/>
            </a:pPr>
            <a:r>
              <a:rPr sz="950" lang="en-US">
                <a:solidFill>
                  <a:srgbClr val="607D8B"/>
                </a:solidFill>
                <a:latin typeface="Calibri" panose="020F0502020204030204" pitchFamily="34" charset="0"/>
                <a:ea typeface="Calibri" panose="020F0502020204030204" pitchFamily="34" charset="-122"/>
                <a:cs typeface="Calibri" panose="020F0502020204030204" pitchFamily="34" charset="-120"/>
              </a:rPr>
              <a:t> LinkedIn  </a:t>
            </a:r>
            <a:r>
              <a:rPr sz="950" lang="en-US" err="1">
                <a:solidFill>
                  <a:srgbClr val="607D8B"/>
                </a:solidFill>
                <a:latin typeface="Calibri" panose="020F0502020204030204" pitchFamily="34" charset="0"/>
                <a:ea typeface="Calibri" panose="020F0502020204030204" pitchFamily="34" charset="-122"/>
                <a:cs typeface="Calibri" panose="020F0502020204030204" pitchFamily="34" charset="-120"/>
              </a:rPr>
              <a:t>Edunet</a:t>
            </a:r>
            <a:r>
              <a:rPr sz="950" lang="en-US">
                <a:solidFill>
                  <a:srgbClr val="607D8B"/>
                </a:solidFill>
                <a:latin typeface="Calibri" panose="020F0502020204030204" pitchFamily="34" charset="0"/>
                <a:ea typeface="Calibri" panose="020F0502020204030204" pitchFamily="34" charset="-122"/>
                <a:cs typeface="Calibri" panose="020F0502020204030204" pitchFamily="34" charset="-120"/>
              </a:rPr>
              <a:t>   </a:t>
            </a:r>
            <a:endParaRPr sz="950" lang="en-US"/>
          </a:p>
        </p:txBody>
      </p:sp>
      <p:sp>
        <p:nvSpPr>
          <p:cNvPr id="1048592" name="Shape 3"/>
          <p:cNvSpPr/>
          <p:nvPr/>
        </p:nvSpPr>
        <p:spPr>
          <a:xfrm>
            <a:off x="5943600" y="0"/>
            <a:ext cx="3200400" cy="5143500"/>
          </a:xfrm>
          <a:prstGeom prst="rect"/>
          <a:solidFill>
            <a:srgbClr val="1B3A8A"/>
          </a:solidFill>
        </p:spPr>
      </p:sp>
      <p:sp>
        <p:nvSpPr>
          <p:cNvPr id="1048593" name="Shape 4"/>
          <p:cNvSpPr/>
          <p:nvPr/>
        </p:nvSpPr>
        <p:spPr>
          <a:xfrm>
            <a:off x="5486400" y="0"/>
            <a:ext cx="502920" cy="5143500"/>
          </a:xfrm>
          <a:prstGeom prst="rect"/>
          <a:solidFill>
            <a:srgbClr val="1565C0"/>
          </a:solidFill>
        </p:spPr>
      </p:sp>
      <p:sp>
        <p:nvSpPr>
          <p:cNvPr id="1048594" name="Shape 7"/>
          <p:cNvSpPr/>
          <p:nvPr/>
        </p:nvSpPr>
        <p:spPr>
          <a:xfrm>
            <a:off x="6126480" y="3108960"/>
            <a:ext cx="2834640" cy="109728"/>
          </a:xfrm>
          <a:prstGeom prst="rect"/>
          <a:solidFill>
            <a:srgbClr val="4FC3F7"/>
          </a:solidFill>
        </p:spPr>
      </p:sp>
      <p:sp>
        <p:nvSpPr>
          <p:cNvPr id="1048595" name="Shape 8"/>
          <p:cNvSpPr/>
          <p:nvPr/>
        </p:nvSpPr>
        <p:spPr>
          <a:xfrm>
            <a:off x="6400800" y="3291840"/>
            <a:ext cx="2468880" cy="109728"/>
          </a:xfrm>
          <a:prstGeom prst="rect"/>
          <a:solidFill>
            <a:srgbClr val="4FC3F7"/>
          </a:solidFill>
        </p:spPr>
      </p:sp>
      <p:sp>
        <p:nvSpPr>
          <p:cNvPr id="1048596" name="Shape 9"/>
          <p:cNvSpPr/>
          <p:nvPr/>
        </p:nvSpPr>
        <p:spPr>
          <a:xfrm>
            <a:off x="6675120" y="3474720"/>
            <a:ext cx="2103120" cy="109728"/>
          </a:xfrm>
          <a:prstGeom prst="rect"/>
          <a:solidFill>
            <a:srgbClr val="4FC3F7"/>
          </a:solidFill>
        </p:spPr>
      </p:sp>
      <p:sp>
        <p:nvSpPr>
          <p:cNvPr id="1048597" name="Text 10"/>
          <p:cNvSpPr/>
          <p:nvPr/>
        </p:nvSpPr>
        <p:spPr>
          <a:xfrm>
            <a:off x="320040" y="960120"/>
            <a:ext cx="5029200" cy="1463040"/>
          </a:xfrm>
          <a:prstGeom prst="rect"/>
          <a:noFill/>
        </p:spPr>
        <p:txBody>
          <a:bodyPr anchor="ctr" rtlCol="0" wrap="square"/>
          <a:p>
            <a:pPr indent="0" marL="0">
              <a:buNone/>
            </a:pPr>
            <a:r>
              <a:rPr b="1" sz="3800" lang="en-US">
                <a:solidFill>
                  <a:srgbClr val="1B3A8A"/>
                </a:solidFill>
                <a:latin typeface="Calibri" panose="020F0502020204030204" pitchFamily="34" charset="0"/>
                <a:ea typeface="Calibri" panose="020F0502020204030204" pitchFamily="34" charset="-122"/>
                <a:cs typeface="Calibri" panose="020F0502020204030204" pitchFamily="34" charset="-120"/>
              </a:rPr>
              <a:t>[Banking Customer Account Dashboard]</a:t>
            </a:r>
            <a:endParaRPr sz="3800" lang="en-US"/>
          </a:p>
        </p:txBody>
      </p:sp>
      <p:sp>
        <p:nvSpPr>
          <p:cNvPr id="1048598" name="Shape 11"/>
          <p:cNvSpPr/>
          <p:nvPr/>
        </p:nvSpPr>
        <p:spPr>
          <a:xfrm>
            <a:off x="320040" y="2578608"/>
            <a:ext cx="3840480" cy="384048"/>
          </a:xfrm>
          <a:prstGeom prst="rect"/>
          <a:solidFill>
            <a:srgbClr val="1565C0"/>
          </a:solidFill>
        </p:spPr>
      </p:sp>
      <p:sp>
        <p:nvSpPr>
          <p:cNvPr id="1048599" name="Shape 12"/>
          <p:cNvSpPr/>
          <p:nvPr/>
        </p:nvSpPr>
        <p:spPr>
          <a:xfrm>
            <a:off x="4160520" y="2578608"/>
            <a:ext cx="274320" cy="384048"/>
          </a:xfrm>
          <a:prstGeom prst="rect"/>
          <a:solidFill>
            <a:srgbClr val="1B3A8A"/>
          </a:solidFill>
        </p:spPr>
      </p:sp>
      <p:sp>
        <p:nvSpPr>
          <p:cNvPr id="1048600" name="Text 13"/>
          <p:cNvSpPr/>
          <p:nvPr/>
        </p:nvSpPr>
        <p:spPr>
          <a:xfrm>
            <a:off x="320040" y="2578608"/>
            <a:ext cx="3840480" cy="384048"/>
          </a:xfrm>
          <a:prstGeom prst="rect"/>
          <a:noFill/>
        </p:spPr>
        <p:txBody>
          <a:bodyPr anchor="ctr" rtlCol="0" wrap="square"/>
          <a:p>
            <a:pPr indent="0" marL="0">
              <a:buNone/>
            </a:pPr>
            <a:r>
              <a:rPr b="1" sz="1300" kern="0" lang="en-US" spc="200">
                <a:solidFill>
                  <a:srgbClr val="FFFFFF"/>
                </a:solidFill>
                <a:latin typeface="Calibri" panose="020F0502020204030204" pitchFamily="34" charset="0"/>
                <a:ea typeface="Calibri" panose="020F0502020204030204" pitchFamily="34" charset="-122"/>
                <a:cs typeface="Calibri" panose="020F0502020204030204" pitchFamily="34" charset="-120"/>
              </a:rPr>
              <a:t>P R E S E N T A T I O N   2 0 2 6</a:t>
            </a:r>
            <a:endParaRPr sz="1300" lang="en-US"/>
          </a:p>
        </p:txBody>
      </p:sp>
      <p:sp>
        <p:nvSpPr>
          <p:cNvPr id="1048601" name="Shape 14"/>
          <p:cNvSpPr/>
          <p:nvPr/>
        </p:nvSpPr>
        <p:spPr>
          <a:xfrm>
            <a:off x="320040" y="3611880"/>
            <a:ext cx="411480" cy="411480"/>
          </a:xfrm>
          <a:prstGeom prst="ellipse"/>
          <a:solidFill>
            <a:srgbClr val="ECEFF1"/>
          </a:solidFill>
          <a:ln w="19050">
            <a:solidFill>
              <a:srgbClr val="1B3A8A"/>
            </a:solidFill>
            <a:prstDash val="solid"/>
          </a:ln>
        </p:spPr>
      </p:sp>
      <p:sp>
        <p:nvSpPr>
          <p:cNvPr id="1048602" name="Text 15"/>
          <p:cNvSpPr/>
          <p:nvPr/>
        </p:nvSpPr>
        <p:spPr>
          <a:xfrm>
            <a:off x="320040" y="3621024"/>
            <a:ext cx="411480" cy="393192"/>
          </a:xfrm>
          <a:prstGeom prst="rect"/>
          <a:noFill/>
        </p:spPr>
        <p:txBody>
          <a:bodyPr anchor="ctr" rtlCol="0" wrap="square"/>
          <a:p>
            <a:pPr algn="ctr" indent="0" marL="0">
              <a:buNone/>
            </a:pPr>
            <a:r>
              <a:rPr sz="1600" lang="en-US">
                <a:solidFill>
                  <a:srgbClr val="000000"/>
                </a:solidFill>
              </a:rPr>
              <a:t>👤</a:t>
            </a:r>
            <a:endParaRPr sz="1600" lang="en-US"/>
          </a:p>
        </p:txBody>
      </p:sp>
      <p:sp>
        <p:nvSpPr>
          <p:cNvPr id="1048603" name="Text 16"/>
          <p:cNvSpPr/>
          <p:nvPr/>
        </p:nvSpPr>
        <p:spPr>
          <a:xfrm>
            <a:off x="777240" y="3611880"/>
            <a:ext cx="1828800" cy="201168"/>
          </a:xfrm>
          <a:prstGeom prst="rect"/>
          <a:noFill/>
        </p:spPr>
        <p:txBody>
          <a:bodyPr anchor="ctr" rtlCol="0" wrap="square"/>
          <a:p>
            <a:pPr indent="0" marL="0">
              <a:buNone/>
            </a:pPr>
            <a:r>
              <a:rPr sz="900" lang="en-US">
                <a:solidFill>
                  <a:srgbClr val="607D8B"/>
                </a:solidFill>
                <a:latin typeface="Calibri" panose="020F0502020204030204" pitchFamily="34" charset="0"/>
                <a:ea typeface="Calibri" panose="020F0502020204030204" pitchFamily="34" charset="-122"/>
                <a:cs typeface="Calibri" panose="020F0502020204030204" pitchFamily="34" charset="-120"/>
              </a:rPr>
              <a:t>Student Name</a:t>
            </a:r>
            <a:endParaRPr sz="900" lang="en-US"/>
          </a:p>
        </p:txBody>
      </p:sp>
      <p:sp>
        <p:nvSpPr>
          <p:cNvPr id="1048604" name="Text 17"/>
          <p:cNvSpPr/>
          <p:nvPr/>
        </p:nvSpPr>
        <p:spPr>
          <a:xfrm>
            <a:off x="777240" y="3794760"/>
            <a:ext cx="1828800" cy="228600"/>
          </a:xfrm>
          <a:prstGeom prst="rect"/>
          <a:noFill/>
        </p:spPr>
        <p:txBody>
          <a:bodyPr anchor="ctr" rtlCol="0" wrap="square"/>
          <a:p>
            <a:pPr indent="0" marL="0">
              <a:buNone/>
            </a:pPr>
            <a:r>
              <a:rPr b="1" sz="1100" lang="en-US">
                <a:solidFill>
                  <a:srgbClr val="1B3A8A"/>
                </a:solidFill>
                <a:latin typeface="Calibri" panose="020F0502020204030204" pitchFamily="34" charset="0"/>
                <a:ea typeface="Calibri" panose="020F0502020204030204" pitchFamily="34" charset="-122"/>
                <a:cs typeface="Calibri" panose="020F0502020204030204" pitchFamily="34" charset="-120"/>
              </a:rPr>
              <a:t>[Gonepalli Amulya]</a:t>
            </a:r>
            <a:endParaRPr sz="1100" lang="en-US"/>
          </a:p>
        </p:txBody>
      </p:sp>
      <p:sp>
        <p:nvSpPr>
          <p:cNvPr id="1048605" name="Shape 18"/>
          <p:cNvSpPr/>
          <p:nvPr/>
        </p:nvSpPr>
        <p:spPr>
          <a:xfrm>
            <a:off x="2834640" y="3611880"/>
            <a:ext cx="411480" cy="411480"/>
          </a:xfrm>
          <a:prstGeom prst="ellipse"/>
          <a:solidFill>
            <a:srgbClr val="ECEFF1"/>
          </a:solidFill>
          <a:ln w="19050">
            <a:solidFill>
              <a:srgbClr val="1B3A8A"/>
            </a:solidFill>
            <a:prstDash val="solid"/>
          </a:ln>
        </p:spPr>
      </p:sp>
      <p:sp>
        <p:nvSpPr>
          <p:cNvPr id="1048606" name="Text 19"/>
          <p:cNvSpPr/>
          <p:nvPr/>
        </p:nvSpPr>
        <p:spPr>
          <a:xfrm>
            <a:off x="2834640" y="3621024"/>
            <a:ext cx="411480" cy="393192"/>
          </a:xfrm>
          <a:prstGeom prst="rect"/>
          <a:noFill/>
        </p:spPr>
        <p:txBody>
          <a:bodyPr anchor="ctr" rtlCol="0" wrap="square"/>
          <a:p>
            <a:pPr algn="ctr" indent="0" marL="0">
              <a:buNone/>
            </a:pPr>
            <a:r>
              <a:rPr sz="1600" lang="en-US">
                <a:solidFill>
                  <a:srgbClr val="000000"/>
                </a:solidFill>
              </a:rPr>
              <a:t>✉</a:t>
            </a:r>
            <a:endParaRPr sz="1600" lang="en-US"/>
          </a:p>
        </p:txBody>
      </p:sp>
      <p:sp>
        <p:nvSpPr>
          <p:cNvPr id="1048607" name="Text 20"/>
          <p:cNvSpPr/>
          <p:nvPr/>
        </p:nvSpPr>
        <p:spPr>
          <a:xfrm>
            <a:off x="3291840" y="3611880"/>
            <a:ext cx="1828800" cy="201168"/>
          </a:xfrm>
          <a:prstGeom prst="rect"/>
          <a:noFill/>
        </p:spPr>
        <p:txBody>
          <a:bodyPr anchor="ctr" rtlCol="0" wrap="square"/>
          <a:p>
            <a:pPr indent="0" marL="0">
              <a:buNone/>
            </a:pPr>
            <a:r>
              <a:rPr sz="900" lang="en-US">
                <a:solidFill>
                  <a:srgbClr val="607D8B"/>
                </a:solidFill>
                <a:latin typeface="Calibri" panose="020F0502020204030204" pitchFamily="34" charset="0"/>
                <a:ea typeface="Calibri" panose="020F0502020204030204" pitchFamily="34" charset="-122"/>
                <a:cs typeface="Calibri" panose="020F0502020204030204" pitchFamily="34" charset="-120"/>
              </a:rPr>
              <a:t>Student Email</a:t>
            </a:r>
            <a:endParaRPr sz="900" lang="en-US"/>
          </a:p>
        </p:txBody>
      </p:sp>
      <p:sp>
        <p:nvSpPr>
          <p:cNvPr id="1048608" name="Text 21"/>
          <p:cNvSpPr/>
          <p:nvPr/>
        </p:nvSpPr>
        <p:spPr>
          <a:xfrm>
            <a:off x="3291840" y="3794760"/>
            <a:ext cx="1828800" cy="228600"/>
          </a:xfrm>
          <a:prstGeom prst="rect"/>
          <a:noFill/>
        </p:spPr>
        <p:txBody>
          <a:bodyPr anchor="ctr" rtlCol="0" wrap="square"/>
          <a:p>
            <a:pPr indent="0" marL="0">
              <a:buNone/>
            </a:pPr>
            <a:r>
              <a:rPr b="1" sz="1100" lang="en-US">
                <a:solidFill>
                  <a:srgbClr val="1B3A8A"/>
                </a:solidFill>
                <a:latin typeface="Calibri" panose="020F0502020204030204" pitchFamily="34" charset="0"/>
                <a:ea typeface="Calibri" panose="020F0502020204030204" pitchFamily="34" charset="-122"/>
                <a:cs typeface="Calibri" panose="020F0502020204030204" pitchFamily="34" charset="-120"/>
              </a:rPr>
              <a:t>[gonepalliamulya@gmail.com]</a:t>
            </a:r>
            <a:endParaRPr sz="1100" lang="en-US"/>
          </a:p>
        </p:txBody>
      </p:sp>
      <p:sp>
        <p:nvSpPr>
          <p:cNvPr id="1048609" name="Shape 22"/>
          <p:cNvSpPr/>
          <p:nvPr/>
        </p:nvSpPr>
        <p:spPr>
          <a:xfrm>
            <a:off x="277722" y="4384041"/>
            <a:ext cx="411480" cy="411480"/>
          </a:xfrm>
          <a:prstGeom prst="ellipse"/>
          <a:solidFill>
            <a:srgbClr val="ECEFF1"/>
          </a:solidFill>
          <a:ln w="19050">
            <a:solidFill>
              <a:srgbClr val="1B3A8A"/>
            </a:solidFill>
            <a:prstDash val="solid"/>
          </a:ln>
        </p:spPr>
      </p:sp>
      <p:sp>
        <p:nvSpPr>
          <p:cNvPr id="1048610" name="Text 23"/>
          <p:cNvSpPr/>
          <p:nvPr/>
        </p:nvSpPr>
        <p:spPr>
          <a:xfrm>
            <a:off x="277722" y="4393185"/>
            <a:ext cx="411480" cy="393192"/>
          </a:xfrm>
          <a:prstGeom prst="rect"/>
          <a:noFill/>
        </p:spPr>
        <p:txBody>
          <a:bodyPr anchor="ctr" rtlCol="0" wrap="square"/>
          <a:p>
            <a:pPr algn="ctr" indent="0" marL="0">
              <a:buNone/>
            </a:pPr>
            <a:r>
              <a:rPr sz="1600" lang="en-US">
                <a:solidFill>
                  <a:srgbClr val="000000"/>
                </a:solidFill>
              </a:rPr>
              <a:t>📖</a:t>
            </a:r>
            <a:endParaRPr sz="1600" lang="en-US"/>
          </a:p>
        </p:txBody>
      </p:sp>
      <p:sp>
        <p:nvSpPr>
          <p:cNvPr id="1048611" name="Text 25"/>
          <p:cNvSpPr/>
          <p:nvPr/>
        </p:nvSpPr>
        <p:spPr>
          <a:xfrm>
            <a:off x="782333" y="4478866"/>
            <a:ext cx="1828800" cy="228600"/>
          </a:xfrm>
          <a:prstGeom prst="rect"/>
          <a:noFill/>
        </p:spPr>
        <p:txBody>
          <a:bodyPr anchor="ctr" rtlCol="0" wrap="square"/>
          <a:p>
            <a:pPr indent="0" marL="0">
              <a:buNone/>
            </a:pPr>
            <a:r>
              <a:rPr b="1" sz="1100" lang="en-US">
                <a:solidFill>
                  <a:srgbClr val="1B3A8A"/>
                </a:solidFill>
                <a:latin typeface="Calibri" panose="020F0502020204030204" pitchFamily="34" charset="0"/>
                <a:ea typeface="Calibri" panose="020F0502020204030204" pitchFamily="34" charset="-122"/>
                <a:cs typeface="Calibri" panose="020F0502020204030204" pitchFamily="34" charset="-120"/>
              </a:rPr>
              <a:t>[Umamaheswari]</a:t>
            </a:r>
            <a:endParaRPr sz="1100" lang="en-US"/>
          </a:p>
        </p:txBody>
      </p:sp>
      <p:sp>
        <p:nvSpPr>
          <p:cNvPr id="1048612" name="Shape 26"/>
          <p:cNvSpPr/>
          <p:nvPr/>
        </p:nvSpPr>
        <p:spPr>
          <a:xfrm>
            <a:off x="0" y="4983480"/>
            <a:ext cx="9144000" cy="160020"/>
          </a:xfrm>
          <a:prstGeom prst="rect"/>
          <a:solidFill>
            <a:srgbClr val="1B3A8A"/>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5" name=""/>
        <p:cNvGrpSpPr/>
        <p:nvPr/>
      </p:nvGrpSpPr>
      <p:grpSpPr>
        <a:xfrm>
          <a:off x="0" y="0"/>
          <a:ext cx="0" cy="0"/>
          <a:chOff x="0" y="0"/>
          <a:chExt cx="0" cy="0"/>
        </a:xfrm>
      </p:grpSpPr>
      <p:sp>
        <p:nvSpPr>
          <p:cNvPr id="1048576" name="Shape 0"/>
          <p:cNvSpPr/>
          <p:nvPr/>
        </p:nvSpPr>
        <p:spPr>
          <a:xfrm>
            <a:off x="0" y="57150"/>
            <a:ext cx="9144000" cy="502920"/>
          </a:xfrm>
          <a:prstGeom prst="rect"/>
          <a:solidFill>
            <a:srgbClr val="1B3A8A"/>
          </a:solidFill>
        </p:spPr>
      </p:sp>
      <p:sp>
        <p:nvSpPr>
          <p:cNvPr id="1048577"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578"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Abstract</a:t>
            </a:r>
            <a:endParaRPr sz="2200" lang="en-US"/>
          </a:p>
        </p:txBody>
      </p:sp>
      <p:sp>
        <p:nvSpPr>
          <p:cNvPr id="1048579" name="Shape 3"/>
          <p:cNvSpPr/>
          <p:nvPr/>
        </p:nvSpPr>
        <p:spPr>
          <a:xfrm>
            <a:off x="0" y="4983480"/>
            <a:ext cx="9144000" cy="160020"/>
          </a:xfrm>
          <a:prstGeom prst="rect"/>
          <a:solidFill>
            <a:srgbClr val="1B3A8A"/>
          </a:solidFill>
        </p:spPr>
      </p:sp>
      <p:sp>
        <p:nvSpPr>
          <p:cNvPr id="1048580" name="Text 12"/>
          <p:cNvSpPr/>
          <p:nvPr/>
        </p:nvSpPr>
        <p:spPr>
          <a:xfrm>
            <a:off x="457200" y="621030"/>
            <a:ext cx="5122545" cy="3894455"/>
          </a:xfrm>
          <a:prstGeom prst="rect"/>
          <a:noFill/>
        </p:spPr>
        <p:txBody>
          <a:bodyPr anchor="ctr" rtlCol="0" wrap="square"/>
          <a:p>
            <a:pPr indent="0">
              <a:buClr>
                <a:srgbClr val="4472C4"/>
              </a:buClr>
              <a:buSzPct val="110000"/>
              <a:buFont typeface="Arial" panose="020B0604020202020204" pitchFamily="34" charset="0"/>
              <a:buNone/>
            </a:pPr>
            <a:endParaRPr sz="1300" lang="en-US"/>
          </a:p>
        </p:txBody>
      </p:sp>
      <p:sp>
        <p:nvSpPr>
          <p:cNvPr id="1048581" name="Text 13"/>
          <p:cNvSpPr/>
          <p:nvPr/>
        </p:nvSpPr>
        <p:spPr>
          <a:xfrm>
            <a:off x="457200" y="1664208"/>
            <a:ext cx="4114800" cy="402336"/>
          </a:xfrm>
          <a:prstGeom prst="rect"/>
          <a:noFill/>
        </p:spPr>
        <p:txBody>
          <a:bodyPr anchor="ctr" rtlCol="0" wrap="square"/>
          <a:p>
            <a:pPr indent="0" marL="0">
              <a:buNone/>
            </a:pPr>
            <a:endParaRPr sz="1300" lang="en-US"/>
          </a:p>
        </p:txBody>
      </p:sp>
      <p:sp>
        <p:nvSpPr>
          <p:cNvPr id="1048582" name="Text 14"/>
          <p:cNvSpPr/>
          <p:nvPr/>
        </p:nvSpPr>
        <p:spPr>
          <a:xfrm>
            <a:off x="838200" y="2093341"/>
            <a:ext cx="4114800" cy="402336"/>
          </a:xfrm>
          <a:prstGeom prst="rect"/>
          <a:noFill/>
        </p:spPr>
        <p:txBody>
          <a:bodyPr anchor="ctr" rtlCol="0" wrap="square"/>
          <a:p>
            <a:pPr indent="0" marL="0">
              <a:buNone/>
            </a:pP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sz="1300" lang="en-US"/>
          </a:p>
        </p:txBody>
      </p:sp>
      <p:sp>
        <p:nvSpPr>
          <p:cNvPr id="1048583" name="Text 15"/>
          <p:cNvSpPr/>
          <p:nvPr/>
        </p:nvSpPr>
        <p:spPr>
          <a:xfrm>
            <a:off x="457200" y="2523744"/>
            <a:ext cx="4114800" cy="402336"/>
          </a:xfrm>
          <a:prstGeom prst="rect"/>
          <a:noFill/>
        </p:spPr>
        <p:txBody>
          <a:bodyPr anchor="ctr" rtlCol="0" wrap="square"/>
          <a:p>
            <a:pPr indent="0" marL="0">
              <a:buNone/>
            </a:pP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sz="1300" lang="en-US"/>
          </a:p>
        </p:txBody>
      </p:sp>
      <p:sp>
        <p:nvSpPr>
          <p:cNvPr id="1048584" name="Text 16"/>
          <p:cNvSpPr/>
          <p:nvPr/>
        </p:nvSpPr>
        <p:spPr>
          <a:xfrm>
            <a:off x="457200" y="1259840"/>
            <a:ext cx="3830955" cy="2096135"/>
          </a:xfrm>
          <a:prstGeom prst="rect"/>
          <a:noFill/>
        </p:spPr>
        <p:txBody>
          <a:bodyPr anchor="ctr" rtlCol="0" wrap="square"/>
          <a:p>
            <a:pPr algn="l" indent="0" marL="0">
              <a:buNone/>
            </a:pP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           .</a:t>
            </a:r>
            <a:endParaRPr sz="1300" lang="en-US"/>
          </a:p>
        </p:txBody>
      </p:sp>
      <p:sp>
        <p:nvSpPr>
          <p:cNvPr id="1048585" name="Text Box 5"/>
          <p:cNvSpPr txBox="1"/>
          <p:nvPr/>
        </p:nvSpPr>
        <p:spPr>
          <a:xfrm>
            <a:off x="381000" y="1276350"/>
            <a:ext cx="4728210" cy="3239135"/>
          </a:xfrm>
          <a:prstGeom prst="rect"/>
          <a:noFill/>
        </p:spPr>
        <p:txBody>
          <a:bodyPr anchor="t" rtlCol="0" wrap="square">
            <a:noAutofit/>
          </a:bodyPr>
          <a:p>
            <a:pPr indent="-285750" marL="285750">
              <a:buClr>
                <a:srgbClr val="4472C4"/>
              </a:buClr>
              <a:buFont typeface="Arial" panose="020B0604020202020204" pitchFamily="34" charset="0"/>
              <a:buChar char="•"/>
            </a:pPr>
            <a:r>
              <a:rPr altLang="en-US" sz="1600" lang="en-US"/>
              <a:t>This project focuses on analyzing banking customer account data to understand financial behavior. </a:t>
            </a:r>
            <a:endParaRPr altLang="en-US" sz="1600" lang="en-US"/>
          </a:p>
          <a:p>
            <a:pPr indent="-285750" marL="285750">
              <a:buClr>
                <a:srgbClr val="4472C4"/>
              </a:buClr>
              <a:buFont typeface="Arial" panose="020B0604020202020204" pitchFamily="34" charset="0"/>
              <a:buChar char="•"/>
            </a:pPr>
            <a:r>
              <a:rPr altLang="en-US" sz="1600" lang="en-US"/>
              <a:t>It helps in monitoring key factors like income, expenses, savings, and transaction patterns.</a:t>
            </a:r>
            <a:endParaRPr altLang="en-US" sz="1600" lang="en-US"/>
          </a:p>
          <a:p>
            <a:pPr indent="-285750" marL="285750">
              <a:buClr>
                <a:srgbClr val="4472C4"/>
              </a:buClr>
              <a:buFont typeface="Arial" panose="020B0604020202020204" pitchFamily="34" charset="0"/>
              <a:buChar char="•"/>
            </a:pPr>
            <a:r>
              <a:rPr altLang="en-US" sz="1600" lang="en-US"/>
              <a:t> The data is collected, cleaned, and processed to generate meaningful insights. </a:t>
            </a:r>
            <a:endParaRPr altLang="en-US" sz="1600" lang="en-US"/>
          </a:p>
          <a:p>
            <a:pPr indent="-285750" marL="285750">
              <a:buClr>
                <a:srgbClr val="4472C4"/>
              </a:buClr>
              <a:buFont typeface="Arial" panose="020B0604020202020204" pitchFamily="34" charset="0"/>
              <a:buChar char="•"/>
            </a:pPr>
            <a:r>
              <a:rPr altLang="en-US" sz="1600" lang="en-US"/>
              <a:t>Interactive dashboards are created to display account balance trends and spending habits.</a:t>
            </a:r>
            <a:endParaRPr altLang="en-US" sz="1600" lang="en-US"/>
          </a:p>
          <a:p>
            <a:pPr indent="-285750" marL="285750">
              <a:buClr>
                <a:srgbClr val="4472C4"/>
              </a:buClr>
              <a:buFont typeface="Arial" panose="020B0604020202020204" pitchFamily="34" charset="0"/>
              <a:buChar char="•"/>
            </a:pPr>
            <a:r>
              <a:rPr altLang="en-US" sz="1600" lang="en-US"/>
              <a:t> The project helps identify financial risks and opportunities for better money management. </a:t>
            </a:r>
            <a:endParaRPr altLang="en-US" sz="1600" lang="en-US"/>
          </a:p>
          <a:p>
            <a:pPr indent="-285750" marL="285750">
              <a:buClr>
                <a:srgbClr val="4472C4"/>
              </a:buClr>
              <a:buFont typeface="Arial" panose="020B0604020202020204" pitchFamily="34" charset="0"/>
              <a:buChar char="•"/>
            </a:pPr>
            <a:r>
              <a:rPr altLang="en-US" sz="1600" lang="en-US"/>
              <a:t>The system supports better decision-making for customers and banks. Overall, the project simplifies complex financial data into easy-to-understand visuals and insights.</a:t>
            </a:r>
            <a:endParaRPr altLang="en-US" sz="16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2" name=""/>
        <p:cNvGrpSpPr/>
        <p:nvPr/>
      </p:nvGrpSpPr>
      <p:grpSpPr>
        <a:xfrm>
          <a:off x="0" y="0"/>
          <a:ext cx="0" cy="0"/>
          <a:chOff x="0" y="0"/>
          <a:chExt cx="0" cy="0"/>
        </a:xfrm>
      </p:grpSpPr>
      <p:sp>
        <p:nvSpPr>
          <p:cNvPr id="1048616" name="Shape 0"/>
          <p:cNvSpPr/>
          <p:nvPr/>
        </p:nvSpPr>
        <p:spPr>
          <a:xfrm>
            <a:off x="0" y="0"/>
            <a:ext cx="9144000" cy="502920"/>
          </a:xfrm>
          <a:prstGeom prst="rect"/>
          <a:solidFill>
            <a:srgbClr val="1B3A8A"/>
          </a:solidFill>
        </p:spPr>
      </p:sp>
      <p:sp>
        <p:nvSpPr>
          <p:cNvPr id="1048617"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618"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OUTLINE</a:t>
            </a:r>
            <a:endParaRPr sz="2200" lang="en-US"/>
          </a:p>
        </p:txBody>
      </p:sp>
      <p:sp>
        <p:nvSpPr>
          <p:cNvPr id="1048619" name="Shape 3"/>
          <p:cNvSpPr/>
          <p:nvPr/>
        </p:nvSpPr>
        <p:spPr>
          <a:xfrm>
            <a:off x="0" y="4983480"/>
            <a:ext cx="9144000" cy="160020"/>
          </a:xfrm>
          <a:prstGeom prst="rect"/>
          <a:solidFill>
            <a:srgbClr val="1B3A8A"/>
          </a:solidFill>
        </p:spPr>
      </p:sp>
      <p:sp>
        <p:nvSpPr>
          <p:cNvPr id="1048620" name="Text 4"/>
          <p:cNvSpPr/>
          <p:nvPr/>
        </p:nvSpPr>
        <p:spPr>
          <a:xfrm>
            <a:off x="457200" y="1234440"/>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Abstract of the Project</a:t>
            </a:r>
            <a:endParaRPr sz="1300" lang="en-US"/>
          </a:p>
        </p:txBody>
      </p:sp>
      <p:sp>
        <p:nvSpPr>
          <p:cNvPr id="1048621" name="Text 5"/>
          <p:cNvSpPr/>
          <p:nvPr/>
        </p:nvSpPr>
        <p:spPr>
          <a:xfrm>
            <a:off x="457200" y="1664208"/>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Problem Statement</a:t>
            </a:r>
            <a:endParaRPr sz="1300" lang="en-US"/>
          </a:p>
        </p:txBody>
      </p:sp>
      <p:sp>
        <p:nvSpPr>
          <p:cNvPr id="1048622" name="Text 6"/>
          <p:cNvSpPr/>
          <p:nvPr/>
        </p:nvSpPr>
        <p:spPr>
          <a:xfrm>
            <a:off x="457200" y="2093976"/>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Proposed Solution</a:t>
            </a:r>
            <a:endParaRPr sz="1300" lang="en-US"/>
          </a:p>
        </p:txBody>
      </p:sp>
      <p:sp>
        <p:nvSpPr>
          <p:cNvPr id="1048623" name="Text 7"/>
          <p:cNvSpPr/>
          <p:nvPr/>
        </p:nvSpPr>
        <p:spPr>
          <a:xfrm>
            <a:off x="457200" y="2523744"/>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System Architecture</a:t>
            </a:r>
            <a:endParaRPr sz="1300" lang="en-US"/>
          </a:p>
        </p:txBody>
      </p:sp>
      <p:sp>
        <p:nvSpPr>
          <p:cNvPr id="1048624" name="Text 8"/>
          <p:cNvSpPr/>
          <p:nvPr/>
        </p:nvSpPr>
        <p:spPr>
          <a:xfrm>
            <a:off x="457200" y="2953512"/>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Live Demo of the Project</a:t>
            </a:r>
            <a:endParaRPr sz="1300" lang="en-US"/>
          </a:p>
        </p:txBody>
      </p:sp>
      <p:sp>
        <p:nvSpPr>
          <p:cNvPr id="1048625" name="Text 9"/>
          <p:cNvSpPr/>
          <p:nvPr/>
        </p:nvSpPr>
        <p:spPr>
          <a:xfrm>
            <a:off x="457200" y="3383280"/>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Embedded Video of Project</a:t>
            </a:r>
            <a:endParaRPr sz="1300" lang="en-US"/>
          </a:p>
        </p:txBody>
      </p:sp>
      <p:sp>
        <p:nvSpPr>
          <p:cNvPr id="1048626" name="Text 10"/>
          <p:cNvSpPr/>
          <p:nvPr/>
        </p:nvSpPr>
        <p:spPr>
          <a:xfrm>
            <a:off x="457200" y="3813048"/>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Conclusion</a:t>
            </a:r>
            <a:endParaRPr sz="1300" lang="en-US"/>
          </a:p>
        </p:txBody>
      </p:sp>
      <p:sp>
        <p:nvSpPr>
          <p:cNvPr id="1048627" name="Text 11"/>
          <p:cNvSpPr/>
          <p:nvPr/>
        </p:nvSpPr>
        <p:spPr>
          <a:xfrm>
            <a:off x="457200" y="4242816"/>
            <a:ext cx="4389120" cy="402336"/>
          </a:xfrm>
          <a:prstGeom prst="rect"/>
          <a:noFill/>
        </p:spPr>
        <p:txBody>
          <a:bodyPr anchor="ctr" rtlCol="0" wrap="square"/>
          <a:p>
            <a:pPr indent="0" marL="0">
              <a:buNone/>
            </a:pPr>
            <a:r>
              <a:rPr b="1" sz="130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Future Scope</a:t>
            </a:r>
            <a:endParaRPr sz="13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5" name=""/>
        <p:cNvGrpSpPr/>
        <p:nvPr/>
      </p:nvGrpSpPr>
      <p:grpSpPr>
        <a:xfrm>
          <a:off x="0" y="0"/>
          <a:ext cx="0" cy="0"/>
          <a:chOff x="0" y="0"/>
          <a:chExt cx="0" cy="0"/>
        </a:xfrm>
      </p:grpSpPr>
      <p:sp>
        <p:nvSpPr>
          <p:cNvPr id="1048631" name="Shape 0"/>
          <p:cNvSpPr/>
          <p:nvPr/>
        </p:nvSpPr>
        <p:spPr>
          <a:xfrm>
            <a:off x="0" y="0"/>
            <a:ext cx="9144000" cy="502920"/>
          </a:xfrm>
          <a:prstGeom prst="rect"/>
          <a:solidFill>
            <a:srgbClr val="1B3A8A"/>
          </a:solidFill>
        </p:spPr>
      </p:sp>
      <p:sp>
        <p:nvSpPr>
          <p:cNvPr id="1048632"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633"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Problem Statement</a:t>
            </a:r>
            <a:endParaRPr sz="2200" lang="en-US"/>
          </a:p>
        </p:txBody>
      </p:sp>
      <p:sp>
        <p:nvSpPr>
          <p:cNvPr id="1048634" name="Shape 3"/>
          <p:cNvSpPr/>
          <p:nvPr/>
        </p:nvSpPr>
        <p:spPr>
          <a:xfrm>
            <a:off x="0" y="4983480"/>
            <a:ext cx="9144000" cy="160020"/>
          </a:xfrm>
          <a:prstGeom prst="rect"/>
          <a:solidFill>
            <a:srgbClr val="1B3A8A"/>
          </a:solidFill>
        </p:spPr>
      </p:sp>
      <p:sp>
        <p:nvSpPr>
          <p:cNvPr id="1048635" name="Text 12"/>
          <p:cNvSpPr/>
          <p:nvPr/>
        </p:nvSpPr>
        <p:spPr>
          <a:xfrm>
            <a:off x="457200" y="1234440"/>
            <a:ext cx="4114800" cy="402336"/>
          </a:xfrm>
          <a:prstGeom prst="rect"/>
          <a:noFill/>
        </p:spPr>
        <p:txBody>
          <a:bodyPr anchor="ctr" rtlCol="0" wrap="square"/>
          <a:p>
            <a:pPr indent="0" marL="0">
              <a:buNone/>
            </a:pPr>
            <a:endParaRPr sz="1300" lang="en-US"/>
          </a:p>
        </p:txBody>
      </p:sp>
      <p:sp>
        <p:nvSpPr>
          <p:cNvPr id="1048636" name="Text 13"/>
          <p:cNvSpPr/>
          <p:nvPr/>
        </p:nvSpPr>
        <p:spPr>
          <a:xfrm>
            <a:off x="457200" y="1664208"/>
            <a:ext cx="4114800" cy="402336"/>
          </a:xfrm>
          <a:prstGeom prst="rect"/>
          <a:noFill/>
        </p:spPr>
        <p:txBody>
          <a:bodyPr anchor="ctr" rtlCol="0" wrap="square"/>
          <a:p>
            <a:pPr indent="0" marL="0">
              <a:buNone/>
            </a:pPr>
            <a:endParaRPr sz="1300" lang="en-US"/>
          </a:p>
        </p:txBody>
      </p:sp>
      <p:sp>
        <p:nvSpPr>
          <p:cNvPr id="1048637" name="Text 14"/>
          <p:cNvSpPr/>
          <p:nvPr/>
        </p:nvSpPr>
        <p:spPr>
          <a:xfrm>
            <a:off x="457200" y="2093976"/>
            <a:ext cx="4114800" cy="402336"/>
          </a:xfrm>
          <a:prstGeom prst="rect"/>
          <a:noFill/>
        </p:spPr>
        <p:txBody>
          <a:bodyPr anchor="ctr" rtlCol="0" wrap="square"/>
          <a:p>
            <a:pPr indent="0" marL="0">
              <a:buNone/>
            </a:pPr>
            <a:endParaRPr sz="1300" lang="en-US"/>
          </a:p>
        </p:txBody>
      </p:sp>
      <p:sp>
        <p:nvSpPr>
          <p:cNvPr id="1048638" name="Text 15"/>
          <p:cNvSpPr/>
          <p:nvPr/>
        </p:nvSpPr>
        <p:spPr>
          <a:xfrm>
            <a:off x="457200" y="2523744"/>
            <a:ext cx="4114800" cy="402336"/>
          </a:xfrm>
          <a:prstGeom prst="rect"/>
          <a:noFill/>
        </p:spPr>
        <p:txBody>
          <a:bodyPr anchor="ctr" rtlCol="0" wrap="square"/>
          <a:p>
            <a:pPr indent="0" marL="0">
              <a:buNone/>
            </a:pP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sz="1300" lang="en-US"/>
          </a:p>
        </p:txBody>
      </p:sp>
      <p:sp>
        <p:nvSpPr>
          <p:cNvPr id="1048639" name="Text 16"/>
          <p:cNvSpPr/>
          <p:nvPr/>
        </p:nvSpPr>
        <p:spPr>
          <a:xfrm>
            <a:off x="457200" y="2953512"/>
            <a:ext cx="4114800" cy="402336"/>
          </a:xfrm>
          <a:prstGeom prst="rect"/>
          <a:noFill/>
        </p:spPr>
        <p:txBody>
          <a:bodyPr anchor="ctr" rtlCol="0" wrap="square"/>
          <a:p>
            <a:pPr indent="0" marL="0">
              <a:buNone/>
            </a:pPr>
            <a:r>
              <a:rPr sz="1300" lang="en-US">
                <a:solidFill>
                  <a:srgbClr val="1A1A2E"/>
                </a:solidFill>
                <a:latin typeface="Calibri" panose="020F0502020204030204" pitchFamily="34" charset="0"/>
                <a:ea typeface="Calibri" panose="020F0502020204030204" pitchFamily="34" charset="-122"/>
                <a:cs typeface="Calibri" panose="020F0502020204030204" pitchFamily="34" charset="-120"/>
              </a:rPr>
              <a:t>.</a:t>
            </a:r>
            <a:endParaRPr sz="1300" lang="en-US"/>
          </a:p>
        </p:txBody>
      </p:sp>
      <p:sp>
        <p:nvSpPr>
          <p:cNvPr id="1048640" name="Text Box 5"/>
          <p:cNvSpPr txBox="1"/>
          <p:nvPr/>
        </p:nvSpPr>
        <p:spPr>
          <a:xfrm>
            <a:off x="457200" y="1178560"/>
            <a:ext cx="4572000" cy="3384550"/>
          </a:xfrm>
          <a:prstGeom prst="rect"/>
          <a:noFill/>
        </p:spPr>
        <p:txBody>
          <a:bodyPr anchor="t" rtlCol="0" wrap="square">
            <a:noAutofit/>
          </a:bodyPr>
          <a:p>
            <a:pPr indent="-285750" marL="285750">
              <a:buClr>
                <a:srgbClr val="4472C4"/>
              </a:buClr>
              <a:buFont typeface="Arial" panose="020B0604020202020204" pitchFamily="34" charset="0"/>
              <a:buChar char="•"/>
            </a:pPr>
            <a:r>
              <a:rPr altLang="en-US" lang="en-US"/>
              <a:t>Many banking customers do not have a clear understanding of their financial health.</a:t>
            </a:r>
            <a:endParaRPr altLang="en-US" lang="en-US"/>
          </a:p>
          <a:p>
            <a:pPr indent="-285750" marL="285750">
              <a:buClr>
                <a:srgbClr val="4472C4"/>
              </a:buClr>
              <a:buFont typeface="Arial" panose="020B0604020202020204" pitchFamily="34" charset="0"/>
              <a:buChar char="•"/>
            </a:pPr>
            <a:r>
              <a:rPr altLang="en-US" lang="en-US"/>
              <a:t> Financial data like transactions, income, and expenses are scattered and difficult to analyze. </a:t>
            </a:r>
            <a:endParaRPr altLang="en-US" lang="en-US"/>
          </a:p>
          <a:p>
            <a:pPr indent="-285750" marL="285750">
              <a:buClr>
                <a:srgbClr val="4472C4"/>
              </a:buClr>
              <a:buFont typeface="Arial" panose="020B0604020202020204" pitchFamily="34" charset="0"/>
              <a:buChar char="•"/>
            </a:pPr>
            <a:r>
              <a:rPr altLang="en-US" lang="en-US"/>
              <a:t>Traditional bank statements are complex and not user-friendly. </a:t>
            </a:r>
            <a:endParaRPr altLang="en-US" lang="en-US"/>
          </a:p>
          <a:p>
            <a:pPr indent="-285750" marL="285750">
              <a:buClr>
                <a:srgbClr val="4472C4"/>
              </a:buClr>
              <a:buFont typeface="Arial" panose="020B0604020202020204" pitchFamily="34" charset="0"/>
              <a:buChar char="•"/>
            </a:pPr>
            <a:r>
              <a:rPr altLang="en-US" lang="en-US"/>
              <a:t>Customers are unable to identify unnecessary expenses or financial risks.</a:t>
            </a:r>
            <a:endParaRPr altLang="en-US" lang="en-US"/>
          </a:p>
          <a:p>
            <a:pPr indent="-285750" marL="285750">
              <a:buClr>
                <a:srgbClr val="4472C4"/>
              </a:buClr>
              <a:buFont typeface="Arial" panose="020B0604020202020204" pitchFamily="34" charset="0"/>
              <a:buChar char="•"/>
            </a:pPr>
            <a:r>
              <a:rPr altLang="en-US" lang="en-US"/>
              <a:t>Existing systems do not provide real-time insights or personalized financial analysis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8" name=""/>
        <p:cNvGrpSpPr/>
        <p:nvPr/>
      </p:nvGrpSpPr>
      <p:grpSpPr>
        <a:xfrm>
          <a:off x="0" y="0"/>
          <a:ext cx="0" cy="0"/>
          <a:chOff x="0" y="0"/>
          <a:chExt cx="0" cy="0"/>
        </a:xfrm>
      </p:grpSpPr>
      <p:sp>
        <p:nvSpPr>
          <p:cNvPr id="1048644" name="Shape 0"/>
          <p:cNvSpPr/>
          <p:nvPr/>
        </p:nvSpPr>
        <p:spPr>
          <a:xfrm>
            <a:off x="0" y="0"/>
            <a:ext cx="9144000" cy="502920"/>
          </a:xfrm>
          <a:prstGeom prst="rect"/>
          <a:solidFill>
            <a:srgbClr val="1B3A8A"/>
          </a:solidFill>
        </p:spPr>
      </p:sp>
      <p:sp>
        <p:nvSpPr>
          <p:cNvPr id="1048645"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646"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Proposed Solution</a:t>
            </a:r>
            <a:endParaRPr sz="2200" lang="en-US"/>
          </a:p>
        </p:txBody>
      </p:sp>
      <p:sp>
        <p:nvSpPr>
          <p:cNvPr id="1048647" name="Shape 3"/>
          <p:cNvSpPr/>
          <p:nvPr/>
        </p:nvSpPr>
        <p:spPr>
          <a:xfrm>
            <a:off x="0" y="4983480"/>
            <a:ext cx="9144000" cy="160020"/>
          </a:xfrm>
          <a:prstGeom prst="rect"/>
          <a:solidFill>
            <a:srgbClr val="1B3A8A"/>
          </a:solidFill>
        </p:spPr>
      </p:sp>
      <p:sp>
        <p:nvSpPr>
          <p:cNvPr id="1048648" name="Text 12"/>
          <p:cNvSpPr/>
          <p:nvPr/>
        </p:nvSpPr>
        <p:spPr>
          <a:xfrm>
            <a:off x="457200" y="1234440"/>
            <a:ext cx="4114800" cy="1939925"/>
          </a:xfrm>
          <a:prstGeom prst="rect"/>
          <a:noFill/>
        </p:spPr>
        <p:txBody>
          <a:bodyPr anchor="t" rtlCol="0" wrap="square"/>
          <a:p>
            <a:pPr indent="0" marL="0">
              <a:buNone/>
            </a:pPr>
            <a:r>
              <a:rPr altLang="en-US" sz="1300" lang="en-US"/>
              <a:t>Develop a Banking Customer Account Dashboard to analyze financial data easily. Collect customer data such as transactions, income, expenses, and account balances. Use Excel for data cleaning and preprocessing to ensure accuracy. Apply Power BI to create interactive dashboards and visualizations. Display key metrics like total balance, monthly spending, savings, and income trends.The proposed solution is to develop a Banking Customer Account Dashboard that enables users to easily analyze and understand their financial data. The system collects important customer information such as transaction details, income, expenses, and account balances. This data is then cleaned and preprocessed using Excel to remove errors, duplicates, and missing values, ensuring accuracy and reliability.</a:t>
            </a:r>
            <a:endParaRPr altLang="en-US" sz="1300" lang="en-US"/>
          </a:p>
        </p:txBody>
      </p:sp>
      <p:sp>
        <p:nvSpPr>
          <p:cNvPr id="1048649" name="Text 14"/>
          <p:cNvSpPr/>
          <p:nvPr/>
        </p:nvSpPr>
        <p:spPr>
          <a:xfrm>
            <a:off x="4846320" y="1280160"/>
            <a:ext cx="3931920" cy="1828800"/>
          </a:xfrm>
          <a:prstGeom prst="rect"/>
          <a:noFill/>
        </p:spPr>
        <p:txBody>
          <a:bodyPr anchor="ctr" rtlCol="0" wrap="square"/>
          <a:p>
            <a:pPr algn="ctr" indent="0" marL="0">
              <a:buNone/>
            </a:pPr>
            <a:endParaRPr sz="80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1" name=""/>
        <p:cNvGrpSpPr/>
        <p:nvPr/>
      </p:nvGrpSpPr>
      <p:grpSpPr>
        <a:xfrm>
          <a:off x="0" y="0"/>
          <a:ext cx="0" cy="0"/>
          <a:chOff x="0" y="0"/>
          <a:chExt cx="0" cy="0"/>
        </a:xfrm>
      </p:grpSpPr>
      <p:sp>
        <p:nvSpPr>
          <p:cNvPr id="1048653" name="Shape 0"/>
          <p:cNvSpPr/>
          <p:nvPr/>
        </p:nvSpPr>
        <p:spPr>
          <a:xfrm>
            <a:off x="0" y="0"/>
            <a:ext cx="9144000" cy="502920"/>
          </a:xfrm>
          <a:prstGeom prst="rect"/>
          <a:solidFill>
            <a:srgbClr val="1B3A8A"/>
          </a:solidFill>
        </p:spPr>
      </p:sp>
      <p:sp>
        <p:nvSpPr>
          <p:cNvPr id="1048654"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655"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System Architecture</a:t>
            </a:r>
            <a:endParaRPr sz="2200" lang="en-US"/>
          </a:p>
        </p:txBody>
      </p:sp>
      <p:sp>
        <p:nvSpPr>
          <p:cNvPr id="1048656" name="Shape 3"/>
          <p:cNvSpPr/>
          <p:nvPr/>
        </p:nvSpPr>
        <p:spPr>
          <a:xfrm>
            <a:off x="0" y="4983480"/>
            <a:ext cx="9144000" cy="160020"/>
          </a:xfrm>
          <a:prstGeom prst="rect"/>
          <a:solidFill>
            <a:srgbClr val="1B3A8A"/>
          </a:solidFill>
        </p:spPr>
      </p:sp>
      <p:sp>
        <p:nvSpPr>
          <p:cNvPr id="1048657" name="Shape 4"/>
          <p:cNvSpPr/>
          <p:nvPr>
            <p:custDataLst>
              <p:tags r:id="rId1"/>
            </p:custDataLst>
          </p:nvPr>
        </p:nvSpPr>
        <p:spPr>
          <a:xfrm>
            <a:off x="274320" y="1097280"/>
            <a:ext cx="4114800" cy="384048"/>
          </a:xfrm>
          <a:prstGeom prst="rect"/>
          <a:solidFill>
            <a:srgbClr val="1565C0"/>
          </a:solidFill>
        </p:spPr>
      </p:sp>
      <p:sp>
        <p:nvSpPr>
          <p:cNvPr id="1048658" name="Shape 5"/>
          <p:cNvSpPr/>
          <p:nvPr>
            <p:custDataLst>
              <p:tags r:id="rId2"/>
            </p:custDataLst>
          </p:nvPr>
        </p:nvSpPr>
        <p:spPr>
          <a:xfrm>
            <a:off x="4206240" y="1097280"/>
            <a:ext cx="320040" cy="384048"/>
          </a:xfrm>
          <a:prstGeom prst="rect"/>
          <a:solidFill>
            <a:srgbClr val="1B3A8A"/>
          </a:solidFill>
        </p:spPr>
      </p:sp>
      <p:sp>
        <p:nvSpPr>
          <p:cNvPr id="1048659" name="Text 6"/>
          <p:cNvSpPr/>
          <p:nvPr>
            <p:custDataLst>
              <p:tags r:id="rId3"/>
            </p:custDataLst>
          </p:nvPr>
        </p:nvSpPr>
        <p:spPr>
          <a:xfrm>
            <a:off x="365760" y="1133856"/>
            <a:ext cx="3840480" cy="310896"/>
          </a:xfrm>
          <a:prstGeom prst="rect"/>
          <a:noFill/>
        </p:spPr>
        <p:txBody>
          <a:bodyPr anchor="ctr" rtlCol="0" wrap="square"/>
          <a:p>
            <a:pPr indent="0" marL="0">
              <a:buNone/>
            </a:pPr>
            <a:r>
              <a:rPr b="1" sz="1200" lang="en-US">
                <a:solidFill>
                  <a:srgbClr val="FFFFFF"/>
                </a:solidFill>
                <a:latin typeface="Calibri" panose="020F0502020204030204" pitchFamily="34" charset="0"/>
                <a:ea typeface="Calibri" panose="020F0502020204030204" pitchFamily="34" charset="-122"/>
                <a:cs typeface="Calibri" panose="020F0502020204030204" pitchFamily="34" charset="-120"/>
              </a:rPr>
              <a:t>Data Input / Source</a:t>
            </a:r>
            <a:endParaRPr sz="1200" lang="en-US"/>
          </a:p>
        </p:txBody>
      </p:sp>
      <p:sp>
        <p:nvSpPr>
          <p:cNvPr id="1048660" name="Text 7"/>
          <p:cNvSpPr/>
          <p:nvPr>
            <p:custDataLst>
              <p:tags r:id="rId4"/>
            </p:custDataLst>
          </p:nvPr>
        </p:nvSpPr>
        <p:spPr>
          <a:xfrm>
            <a:off x="365760" y="1554480"/>
            <a:ext cx="4023360" cy="1188720"/>
          </a:xfrm>
          <a:prstGeom prst="rect"/>
          <a:noFill/>
        </p:spPr>
        <p:txBody>
          <a:bodyPr anchor="t" rtlCol="0" wrap="square"/>
          <a:p>
            <a:pPr indent="0" marL="0">
              <a:buNone/>
            </a:pPr>
            <a:r>
              <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rPr>
              <a:t>Collect data from banking records such as:</a:t>
            </a:r>
            <a:endPar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indent="0" marL="0">
              <a:buNone/>
            </a:pPr>
            <a:r>
              <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rPr>
              <a:t> Customer account details </a:t>
            </a:r>
            <a:endPar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indent="0" marL="0">
              <a:buNone/>
            </a:pPr>
            <a:r>
              <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rPr>
              <a:t>Transaction history</a:t>
            </a:r>
            <a:endPar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indent="0" marL="0">
              <a:buNone/>
            </a:pPr>
            <a:r>
              <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rPr>
              <a:t> Data can be taken from Excel files, CSV files,</a:t>
            </a:r>
            <a:endPar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endParaRPr>
          </a:p>
          <a:p>
            <a:pPr indent="0" marL="0">
              <a:buNone/>
            </a:pPr>
            <a:r>
              <a:rPr altLang="en-US" sz="1150" lang="en-US">
                <a:solidFill>
                  <a:srgbClr val="1A1A2E"/>
                </a:solidFill>
                <a:latin typeface="Calibri" panose="020F0502020204030204" pitchFamily="34" charset="0"/>
                <a:ea typeface="Calibri" panose="020F0502020204030204" pitchFamily="34" charset="-122"/>
                <a:cs typeface="Calibri" panose="020F0502020204030204" pitchFamily="34" charset="-120"/>
              </a:rPr>
              <a:t> or databases</a:t>
            </a:r>
            <a:endParaRPr sz="1150" lang="en-US"/>
          </a:p>
        </p:txBody>
      </p:sp>
      <p:sp>
        <p:nvSpPr>
          <p:cNvPr id="1048661" name="Shape 8"/>
          <p:cNvSpPr/>
          <p:nvPr>
            <p:custDataLst>
              <p:tags r:id="rId5"/>
            </p:custDataLst>
          </p:nvPr>
        </p:nvSpPr>
        <p:spPr>
          <a:xfrm>
            <a:off x="4709160" y="1097280"/>
            <a:ext cx="4114800" cy="384048"/>
          </a:xfrm>
          <a:prstGeom prst="rect"/>
          <a:solidFill>
            <a:srgbClr val="1565C0"/>
          </a:solidFill>
        </p:spPr>
      </p:sp>
      <p:sp>
        <p:nvSpPr>
          <p:cNvPr id="1048662" name="Shape 9"/>
          <p:cNvSpPr/>
          <p:nvPr>
            <p:custDataLst>
              <p:tags r:id="rId6"/>
            </p:custDataLst>
          </p:nvPr>
        </p:nvSpPr>
        <p:spPr>
          <a:xfrm>
            <a:off x="8641080" y="1097280"/>
            <a:ext cx="320040" cy="384048"/>
          </a:xfrm>
          <a:prstGeom prst="rect"/>
          <a:solidFill>
            <a:srgbClr val="1B3A8A"/>
          </a:solidFill>
        </p:spPr>
      </p:sp>
      <p:sp>
        <p:nvSpPr>
          <p:cNvPr id="1048663" name="Text 10"/>
          <p:cNvSpPr/>
          <p:nvPr>
            <p:custDataLst>
              <p:tags r:id="rId7"/>
            </p:custDataLst>
          </p:nvPr>
        </p:nvSpPr>
        <p:spPr>
          <a:xfrm>
            <a:off x="4800600" y="1133856"/>
            <a:ext cx="3840480" cy="310896"/>
          </a:xfrm>
          <a:prstGeom prst="rect"/>
          <a:noFill/>
        </p:spPr>
        <p:txBody>
          <a:bodyPr anchor="ctr" rtlCol="0" wrap="square"/>
          <a:p>
            <a:pPr indent="0" marL="0">
              <a:buNone/>
            </a:pPr>
            <a:r>
              <a:rPr b="1" sz="1200" lang="en-US">
                <a:solidFill>
                  <a:srgbClr val="FFFFFF"/>
                </a:solidFill>
                <a:latin typeface="Calibri" panose="020F0502020204030204" pitchFamily="34" charset="0"/>
                <a:ea typeface="Calibri" panose="020F0502020204030204" pitchFamily="34" charset="-122"/>
                <a:cs typeface="Calibri" panose="020F0502020204030204" pitchFamily="34" charset="-120"/>
              </a:rPr>
              <a:t>Processing / Analysis</a:t>
            </a:r>
            <a:endParaRPr sz="1200" lang="en-US"/>
          </a:p>
        </p:txBody>
      </p:sp>
      <p:sp>
        <p:nvSpPr>
          <p:cNvPr id="1048664" name="Text 11"/>
          <p:cNvSpPr/>
          <p:nvPr>
            <p:custDataLst>
              <p:tags r:id="rId8"/>
            </p:custDataLst>
          </p:nvPr>
        </p:nvSpPr>
        <p:spPr>
          <a:xfrm>
            <a:off x="4800600" y="1554480"/>
            <a:ext cx="4023360" cy="1188720"/>
          </a:xfrm>
          <a:prstGeom prst="rect"/>
          <a:noFill/>
        </p:spPr>
        <p:txBody>
          <a:bodyPr anchor="t" rtlCol="0" wrap="square"/>
          <a:p>
            <a:pPr indent="0" marL="0">
              <a:buNone/>
            </a:pPr>
            <a:r>
              <a:rPr altLang="en-US" sz="1150" lang="en-US"/>
              <a:t>Clean the data by:</a:t>
            </a:r>
            <a:endParaRPr altLang="en-US" sz="1150" lang="en-US"/>
          </a:p>
          <a:p>
            <a:pPr indent="0" marL="0">
              <a:buNone/>
            </a:pPr>
            <a:r>
              <a:rPr altLang="en-US" sz="1150" lang="en-US"/>
              <a:t> Removing errors and duplicates</a:t>
            </a:r>
            <a:endParaRPr altLang="en-US" sz="1150" lang="en-US"/>
          </a:p>
          <a:p>
            <a:pPr indent="0" marL="0">
              <a:buNone/>
            </a:pPr>
            <a:r>
              <a:rPr altLang="en-US" sz="1150" lang="en-US"/>
              <a:t> Handling missing values </a:t>
            </a:r>
            <a:endParaRPr altLang="en-US" sz="1150" lang="en-US"/>
          </a:p>
          <a:p>
            <a:pPr indent="0" marL="0">
              <a:buNone/>
            </a:pPr>
            <a:r>
              <a:rPr altLang="en-US" sz="1150" lang="en-US"/>
              <a:t>Organize data into proper format (tables, </a:t>
            </a:r>
            <a:endParaRPr altLang="en-US" sz="1150" lang="en-US"/>
          </a:p>
          <a:p>
            <a:pPr indent="0" marL="0">
              <a:buNone/>
            </a:pPr>
            <a:r>
              <a:rPr altLang="en-US" sz="1150" lang="en-US"/>
              <a:t>categories)</a:t>
            </a:r>
            <a:endParaRPr altLang="en-US" sz="1150" lang="en-US"/>
          </a:p>
          <a:p>
            <a:pPr indent="0" marL="0">
              <a:buNone/>
            </a:pPr>
            <a:endParaRPr altLang="en-US" sz="1150" lang="en-US"/>
          </a:p>
        </p:txBody>
      </p:sp>
      <p:sp>
        <p:nvSpPr>
          <p:cNvPr id="1048665" name="Shape 12"/>
          <p:cNvSpPr/>
          <p:nvPr>
            <p:custDataLst>
              <p:tags r:id="rId9"/>
            </p:custDataLst>
          </p:nvPr>
        </p:nvSpPr>
        <p:spPr>
          <a:xfrm>
            <a:off x="274320" y="2926080"/>
            <a:ext cx="4114800" cy="384048"/>
          </a:xfrm>
          <a:prstGeom prst="rect"/>
          <a:solidFill>
            <a:srgbClr val="1565C0"/>
          </a:solidFill>
        </p:spPr>
      </p:sp>
      <p:sp>
        <p:nvSpPr>
          <p:cNvPr id="1048666" name="Shape 13"/>
          <p:cNvSpPr/>
          <p:nvPr>
            <p:custDataLst>
              <p:tags r:id="rId10"/>
            </p:custDataLst>
          </p:nvPr>
        </p:nvSpPr>
        <p:spPr>
          <a:xfrm>
            <a:off x="4206240" y="2926080"/>
            <a:ext cx="320040" cy="384048"/>
          </a:xfrm>
          <a:prstGeom prst="rect"/>
          <a:solidFill>
            <a:srgbClr val="1B3A8A"/>
          </a:solidFill>
        </p:spPr>
      </p:sp>
      <p:sp>
        <p:nvSpPr>
          <p:cNvPr id="1048667" name="Text 14"/>
          <p:cNvSpPr/>
          <p:nvPr>
            <p:custDataLst>
              <p:tags r:id="rId11"/>
            </p:custDataLst>
          </p:nvPr>
        </p:nvSpPr>
        <p:spPr>
          <a:xfrm>
            <a:off x="365760" y="2962656"/>
            <a:ext cx="3840480" cy="310896"/>
          </a:xfrm>
          <a:prstGeom prst="rect"/>
          <a:noFill/>
        </p:spPr>
        <p:txBody>
          <a:bodyPr anchor="ctr" rtlCol="0" wrap="square"/>
          <a:p>
            <a:pPr indent="0" marL="0">
              <a:buNone/>
            </a:pPr>
            <a:r>
              <a:rPr b="1" sz="1200" lang="en-US">
                <a:solidFill>
                  <a:srgbClr val="FFFFFF"/>
                </a:solidFill>
                <a:latin typeface="Calibri" panose="020F0502020204030204" pitchFamily="34" charset="0"/>
                <a:ea typeface="Calibri" panose="020F0502020204030204" pitchFamily="34" charset="-122"/>
                <a:cs typeface="Calibri" panose="020F0502020204030204" pitchFamily="34" charset="-120"/>
              </a:rPr>
              <a:t>AI / Tool Integration</a:t>
            </a:r>
            <a:endParaRPr sz="1200" lang="en-US"/>
          </a:p>
        </p:txBody>
      </p:sp>
      <p:sp>
        <p:nvSpPr>
          <p:cNvPr id="1048668" name="Text 15"/>
          <p:cNvSpPr/>
          <p:nvPr>
            <p:custDataLst>
              <p:tags r:id="rId12"/>
            </p:custDataLst>
          </p:nvPr>
        </p:nvSpPr>
        <p:spPr>
          <a:xfrm>
            <a:off x="365760" y="3383280"/>
            <a:ext cx="4023360" cy="1188720"/>
          </a:xfrm>
          <a:prstGeom prst="rect"/>
          <a:noFill/>
        </p:spPr>
        <p:txBody>
          <a:bodyPr anchor="t" rtlCol="0" wrap="square"/>
          <a:p>
            <a:pPr indent="0" marL="0">
              <a:buNone/>
            </a:pPr>
            <a:r>
              <a:rPr altLang="en-US" sz="1150" lang="en-US"/>
              <a:t>Use Excel for data cleaning and basic</a:t>
            </a:r>
            <a:endParaRPr altLang="en-US" sz="1150" lang="en-US"/>
          </a:p>
          <a:p>
            <a:pPr indent="0" marL="0">
              <a:buNone/>
            </a:pPr>
            <a:r>
              <a:rPr altLang="en-US" sz="1150" lang="en-US"/>
              <a:t> analysis</a:t>
            </a:r>
            <a:endParaRPr altLang="en-US" sz="1150" lang="en-US"/>
          </a:p>
          <a:p>
            <a:pPr indent="0" marL="0">
              <a:buNone/>
            </a:pPr>
            <a:r>
              <a:rPr altLang="en-US" sz="1150" lang="en-US"/>
              <a:t> Use Power BI to build dashboards and</a:t>
            </a:r>
            <a:endParaRPr altLang="en-US" sz="1150" lang="en-US"/>
          </a:p>
          <a:p>
            <a:pPr indent="0" marL="0">
              <a:buNone/>
            </a:pPr>
            <a:r>
              <a:rPr altLang="en-US" sz="1150" lang="en-US"/>
              <a:t> visualizations</a:t>
            </a:r>
            <a:endParaRPr altLang="en-US" sz="1150" lang="en-US"/>
          </a:p>
          <a:p>
            <a:pPr indent="0" marL="0">
              <a:buNone/>
            </a:pPr>
            <a:r>
              <a:rPr altLang="en-US" sz="1150" lang="en-US"/>
              <a:t> Use AI tools (Copilot/ChatGPT) to:</a:t>
            </a:r>
            <a:endParaRPr altLang="en-US" sz="1150" lang="en-US"/>
          </a:p>
          <a:p>
            <a:pPr indent="0" marL="0">
              <a:buNone/>
            </a:pPr>
            <a:r>
              <a:rPr altLang="en-US" sz="1150" lang="en-US"/>
              <a:t> Generate insights</a:t>
            </a:r>
            <a:endParaRPr altLang="en-US" sz="1150" lang="en-US"/>
          </a:p>
        </p:txBody>
      </p:sp>
      <p:sp>
        <p:nvSpPr>
          <p:cNvPr id="1048669" name="Shape 16"/>
          <p:cNvSpPr/>
          <p:nvPr>
            <p:custDataLst>
              <p:tags r:id="rId13"/>
            </p:custDataLst>
          </p:nvPr>
        </p:nvSpPr>
        <p:spPr>
          <a:xfrm>
            <a:off x="4709160" y="2926080"/>
            <a:ext cx="4114800" cy="384048"/>
          </a:xfrm>
          <a:prstGeom prst="rect"/>
          <a:solidFill>
            <a:srgbClr val="1565C0"/>
          </a:solidFill>
        </p:spPr>
      </p:sp>
      <p:sp>
        <p:nvSpPr>
          <p:cNvPr id="1048670" name="Shape 17"/>
          <p:cNvSpPr/>
          <p:nvPr>
            <p:custDataLst>
              <p:tags r:id="rId14"/>
            </p:custDataLst>
          </p:nvPr>
        </p:nvSpPr>
        <p:spPr>
          <a:xfrm>
            <a:off x="8641080" y="2926080"/>
            <a:ext cx="320040" cy="384048"/>
          </a:xfrm>
          <a:prstGeom prst="rect"/>
          <a:solidFill>
            <a:srgbClr val="1B3A8A"/>
          </a:solidFill>
        </p:spPr>
      </p:sp>
      <p:sp>
        <p:nvSpPr>
          <p:cNvPr id="1048671" name="Text 18"/>
          <p:cNvSpPr/>
          <p:nvPr>
            <p:custDataLst>
              <p:tags r:id="rId15"/>
            </p:custDataLst>
          </p:nvPr>
        </p:nvSpPr>
        <p:spPr>
          <a:xfrm>
            <a:off x="4800600" y="2962656"/>
            <a:ext cx="3840480" cy="310896"/>
          </a:xfrm>
          <a:prstGeom prst="rect"/>
          <a:noFill/>
        </p:spPr>
        <p:txBody>
          <a:bodyPr anchor="ctr" rtlCol="0" wrap="square"/>
          <a:p>
            <a:pPr indent="0" marL="0">
              <a:buNone/>
            </a:pPr>
            <a:r>
              <a:rPr b="1" sz="1200" lang="en-US">
                <a:solidFill>
                  <a:srgbClr val="FFFFFF"/>
                </a:solidFill>
                <a:latin typeface="Calibri" panose="020F0502020204030204" pitchFamily="34" charset="0"/>
                <a:ea typeface="Calibri" panose="020F0502020204030204" pitchFamily="34" charset="-122"/>
                <a:cs typeface="Calibri" panose="020F0502020204030204" pitchFamily="34" charset="-120"/>
              </a:rPr>
              <a:t>Output / Dashboard</a:t>
            </a:r>
            <a:endParaRPr sz="1200" lang="en-US"/>
          </a:p>
        </p:txBody>
      </p:sp>
      <p:sp>
        <p:nvSpPr>
          <p:cNvPr id="1048672" name="Text 19"/>
          <p:cNvSpPr/>
          <p:nvPr>
            <p:custDataLst>
              <p:tags r:id="rId16"/>
            </p:custDataLst>
          </p:nvPr>
        </p:nvSpPr>
        <p:spPr>
          <a:xfrm>
            <a:off x="4800600" y="3383280"/>
            <a:ext cx="4023360" cy="1188720"/>
          </a:xfrm>
          <a:prstGeom prst="rect"/>
          <a:noFill/>
        </p:spPr>
        <p:txBody>
          <a:bodyPr anchor="t" rtlCol="0" wrap="square"/>
          <a:p>
            <a:pPr indent="0" marL="0">
              <a:buNone/>
            </a:pPr>
            <a:r>
              <a:rPr altLang="en-US" sz="1150" lang="en-US"/>
              <a:t>Use charts like: </a:t>
            </a:r>
            <a:endParaRPr altLang="en-US" sz="1150" lang="en-US"/>
          </a:p>
          <a:p>
            <a:pPr indent="0" marL="0">
              <a:buNone/>
            </a:pPr>
            <a:r>
              <a:rPr altLang="en-US" sz="1150" lang="en-US"/>
              <a:t>Bar charts</a:t>
            </a:r>
            <a:endParaRPr altLang="en-US" sz="1150" lang="en-US"/>
          </a:p>
          <a:p>
            <a:pPr indent="0" marL="0">
              <a:buNone/>
            </a:pPr>
            <a:r>
              <a:rPr altLang="en-US" sz="1150" lang="en-US"/>
              <a:t> Pie charts</a:t>
            </a:r>
            <a:endParaRPr altLang="en-US" sz="1150" lang="en-US"/>
          </a:p>
          <a:p>
            <a:pPr indent="0" marL="0">
              <a:buNone/>
            </a:pPr>
            <a:r>
              <a:rPr altLang="en-US" sz="1150" lang="en-US"/>
              <a:t> Line graphs </a:t>
            </a:r>
            <a:endParaRPr altLang="en-US" sz="1150" lang="en-US"/>
          </a:p>
          <a:p>
            <a:pPr indent="0" marL="0">
              <a:buNone/>
            </a:pPr>
            <a:r>
              <a:rPr altLang="en-US" sz="1150" lang="en-US"/>
              <a:t>Provide easy-to-understand insights for</a:t>
            </a:r>
            <a:endParaRPr altLang="en-US" sz="1150" lang="en-US"/>
          </a:p>
          <a:p>
            <a:pPr indent="0" marL="0">
              <a:buNone/>
            </a:pPr>
            <a:r>
              <a:rPr altLang="en-US" sz="1150" lang="en-US"/>
              <a:t> users</a:t>
            </a:r>
            <a:endParaRPr altLang="en-US" sz="115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4" name=""/>
        <p:cNvGrpSpPr/>
        <p:nvPr/>
      </p:nvGrpSpPr>
      <p:grpSpPr>
        <a:xfrm>
          <a:off x="0" y="0"/>
          <a:ext cx="0" cy="0"/>
          <a:chOff x="0" y="0"/>
          <a:chExt cx="0" cy="0"/>
        </a:xfrm>
      </p:grpSpPr>
      <p:sp>
        <p:nvSpPr>
          <p:cNvPr id="1048676" name="Shape 0"/>
          <p:cNvSpPr/>
          <p:nvPr/>
        </p:nvSpPr>
        <p:spPr>
          <a:xfrm>
            <a:off x="0" y="0"/>
            <a:ext cx="9144000" cy="502920"/>
          </a:xfrm>
          <a:prstGeom prst="rect"/>
          <a:solidFill>
            <a:srgbClr val="1B3A8A"/>
          </a:solidFill>
        </p:spPr>
      </p:sp>
      <p:sp>
        <p:nvSpPr>
          <p:cNvPr id="1048677"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678"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Video of Project Demo</a:t>
            </a:r>
            <a:endParaRPr sz="2200" lang="en-US"/>
          </a:p>
        </p:txBody>
      </p:sp>
      <p:sp>
        <p:nvSpPr>
          <p:cNvPr id="1048679" name="Shape 3"/>
          <p:cNvSpPr/>
          <p:nvPr/>
        </p:nvSpPr>
        <p:spPr>
          <a:xfrm>
            <a:off x="0" y="4983480"/>
            <a:ext cx="9144000" cy="160020"/>
          </a:xfrm>
          <a:prstGeom prst="rect"/>
          <a:solidFill>
            <a:srgbClr val="1B3A8A"/>
          </a:solidFill>
        </p:spPr>
      </p:sp>
      <p:sp>
        <p:nvSpPr>
          <p:cNvPr id="1048680" name="Shape 4"/>
          <p:cNvSpPr/>
          <p:nvPr/>
        </p:nvSpPr>
        <p:spPr>
          <a:xfrm>
            <a:off x="365760" y="685800"/>
            <a:ext cx="8412480" cy="3977640"/>
          </a:xfrm>
          <a:prstGeom prst="rect"/>
          <a:solidFill>
            <a:srgbClr val="ECEFF1"/>
          </a:solidFill>
          <a:ln w="25400">
            <a:solidFill>
              <a:srgbClr val="1B3A8A"/>
            </a:solidFill>
            <a:prstDash val="solid"/>
          </a:ln>
        </p:spPr>
      </p:sp>
      <p:sp>
        <p:nvSpPr>
          <p:cNvPr id="1048681" name="Shape 5"/>
          <p:cNvSpPr/>
          <p:nvPr/>
        </p:nvSpPr>
        <p:spPr>
          <a:xfrm>
            <a:off x="365760" y="685800"/>
            <a:ext cx="8412480" cy="384048"/>
          </a:xfrm>
          <a:prstGeom prst="rect"/>
          <a:solidFill>
            <a:srgbClr val="E0E0E0"/>
          </a:solidFill>
        </p:spPr>
      </p:sp>
      <p:sp>
        <p:nvSpPr>
          <p:cNvPr id="1048682" name="Shape 6"/>
          <p:cNvSpPr/>
          <p:nvPr/>
        </p:nvSpPr>
        <p:spPr>
          <a:xfrm>
            <a:off x="502920" y="777240"/>
            <a:ext cx="164592" cy="164592"/>
          </a:xfrm>
          <a:prstGeom prst="ellipse"/>
          <a:solidFill>
            <a:srgbClr val="FF5F57"/>
          </a:solidFill>
        </p:spPr>
      </p:sp>
      <p:sp>
        <p:nvSpPr>
          <p:cNvPr id="1048683" name="Shape 7"/>
          <p:cNvSpPr/>
          <p:nvPr/>
        </p:nvSpPr>
        <p:spPr>
          <a:xfrm>
            <a:off x="731520" y="777240"/>
            <a:ext cx="164592" cy="164592"/>
          </a:xfrm>
          <a:prstGeom prst="ellipse"/>
          <a:solidFill>
            <a:srgbClr val="FEBC2E"/>
          </a:solidFill>
        </p:spPr>
      </p:sp>
      <p:sp>
        <p:nvSpPr>
          <p:cNvPr id="1048684" name="Shape 8"/>
          <p:cNvSpPr/>
          <p:nvPr/>
        </p:nvSpPr>
        <p:spPr>
          <a:xfrm>
            <a:off x="960120" y="777240"/>
            <a:ext cx="164592" cy="164592"/>
          </a:xfrm>
          <a:prstGeom prst="ellipse"/>
          <a:solidFill>
            <a:srgbClr val="28C840"/>
          </a:solidFill>
        </p:spPr>
      </p:sp>
      <p:sp>
        <p:nvSpPr>
          <p:cNvPr id="1048685" name="Shape 9"/>
          <p:cNvSpPr/>
          <p:nvPr/>
        </p:nvSpPr>
        <p:spPr>
          <a:xfrm>
            <a:off x="1371600" y="777240"/>
            <a:ext cx="5029200" cy="201168"/>
          </a:xfrm>
          <a:prstGeom prst="rect"/>
          <a:solidFill>
            <a:srgbClr val="FFFFFF"/>
          </a:solidFill>
          <a:ln w="6350">
            <a:solidFill>
              <a:srgbClr val="CCCCCC"/>
            </a:solidFill>
            <a:prstDash val="solid"/>
          </a:ln>
        </p:spPr>
      </p:sp>
      <p:sp>
        <p:nvSpPr>
          <p:cNvPr id="1048686" name="Text 10"/>
          <p:cNvSpPr/>
          <p:nvPr/>
        </p:nvSpPr>
        <p:spPr>
          <a:xfrm>
            <a:off x="1389888" y="768096"/>
            <a:ext cx="4992624" cy="219456"/>
          </a:xfrm>
          <a:prstGeom prst="rect"/>
          <a:noFill/>
        </p:spPr>
        <p:txBody>
          <a:bodyPr anchor="ctr" rtlCol="0" wrap="square"/>
          <a:p>
            <a:pPr indent="0" marL="0">
              <a:buNone/>
            </a:pPr>
            <a:r>
              <a:rPr sz="900" lang="en-US">
                <a:solidFill>
                  <a:srgbClr val="607D8B"/>
                </a:solidFill>
                <a:latin typeface="Calibri" panose="020F0502020204030204" pitchFamily="34" charset="0"/>
                <a:ea typeface="Calibri" panose="020F0502020204030204" pitchFamily="34" charset="-122"/>
                <a:cs typeface="Calibri" panose="020F0502020204030204" pitchFamily="34" charset="-120"/>
              </a:rPr>
              <a:t>[https://your-project-demo-link.com</a:t>
            </a:r>
            <a:r>
              <a:rPr altLang="en-US" sz="900" lang="en-US">
                <a:solidFill>
                  <a:srgbClr val="607D8B"/>
                </a:solidFill>
                <a:latin typeface="Calibri" panose="020F0502020204030204" pitchFamily="34" charset="0"/>
                <a:ea typeface="Calibri" panose="020F0502020204030204" pitchFamily="34" charset="-122"/>
                <a:cs typeface="Calibri" panose="020F0502020204030204" pitchFamily="34" charset="-120"/>
              </a:rPr>
              <a:t>https://drive.google.com/file/d/1jIVi-1Hjcm9CnN050y8BjdatvLX3MuXA/view?usp=drivesdk</a:t>
            </a:r>
            <a:r>
              <a:rPr sz="900" lang="en-US">
                <a:solidFill>
                  <a:srgbClr val="607D8B"/>
                </a:solidFill>
                <a:latin typeface="Calibri" panose="020F0502020204030204" pitchFamily="34" charset="0"/>
                <a:ea typeface="Calibri" panose="020F0502020204030204" pitchFamily="34" charset="-122"/>
                <a:cs typeface="Calibri" panose="020F0502020204030204" pitchFamily="34" charset="-120"/>
              </a:rPr>
              <a:t>]</a:t>
            </a:r>
            <a:endParaRPr sz="900" lang="en-US"/>
          </a:p>
        </p:txBody>
      </p:sp>
      <p:sp>
        <p:nvSpPr>
          <p:cNvPr id="1048687" name="Shape 11"/>
          <p:cNvSpPr/>
          <p:nvPr/>
        </p:nvSpPr>
        <p:spPr>
          <a:xfrm>
            <a:off x="3749040" y="1828800"/>
            <a:ext cx="1645920" cy="1645920"/>
          </a:xfrm>
          <a:prstGeom prst="ellipse"/>
          <a:solidFill>
            <a:srgbClr val="1B3A8A">
              <a:alpha val="80000"/>
            </a:srgbClr>
          </a:solidFill>
        </p:spPr>
      </p:sp>
      <p:sp>
        <p:nvSpPr>
          <p:cNvPr id="1048688" name="Text 12"/>
          <p:cNvSpPr/>
          <p:nvPr/>
        </p:nvSpPr>
        <p:spPr>
          <a:xfrm>
            <a:off x="3810000" y="1920240"/>
            <a:ext cx="1645920" cy="1645920"/>
          </a:xfrm>
          <a:prstGeom prst="rect"/>
          <a:noFill/>
        </p:spPr>
        <p:txBody>
          <a:bodyPr anchor="ctr" rtlCol="0" wrap="square"/>
          <a:p>
            <a:pPr algn="ctr" indent="0" marL="0">
              <a:buNone/>
            </a:pPr>
            <a:r>
              <a:rPr sz="4800" lang="en-US">
                <a:solidFill>
                  <a:srgbClr val="FFFFFF"/>
                </a:solidFill>
              </a:rPr>
              <a:t>▶</a:t>
            </a:r>
            <a:endParaRPr sz="4800" lang="en-US"/>
          </a:p>
        </p:txBody>
      </p:sp>
      <p:sp>
        <p:nvSpPr>
          <p:cNvPr id="1048689" name="Text 13"/>
          <p:cNvSpPr/>
          <p:nvPr/>
        </p:nvSpPr>
        <p:spPr>
          <a:xfrm>
            <a:off x="914400" y="3794760"/>
            <a:ext cx="7315200" cy="594360"/>
          </a:xfrm>
          <a:prstGeom prst="rect"/>
          <a:noFill/>
        </p:spPr>
        <p:txBody>
          <a:bodyPr anchor="ctr" rtlCol="0" wrap="square"/>
          <a:p>
            <a:pPr algn="ctr" indent="0" marL="0">
              <a:buNone/>
            </a:pPr>
            <a:r>
              <a:rPr sz="1100" i="1" lang="en-US">
                <a:solidFill>
                  <a:srgbClr val="607D8B"/>
                </a:solidFill>
                <a:latin typeface="Calibri" panose="020F0502020204030204" pitchFamily="34" charset="0"/>
                <a:ea typeface="Calibri" panose="020F0502020204030204" pitchFamily="34" charset="-122"/>
                <a:cs typeface="Calibri" panose="020F0502020204030204" pitchFamily="34" charset="-120"/>
              </a:rPr>
              <a:t>[Insert your project demo video.</a:t>
            </a:r>
            <a:endParaRPr sz="1100" lang="en-US"/>
          </a:p>
          <a:p>
            <a:pPr algn="ctr" indent="0" marL="0">
              <a:buNone/>
            </a:pPr>
            <a:r>
              <a:rPr sz="1100" i="1" lang="en-US">
                <a:solidFill>
                  <a:srgbClr val="607D8B"/>
                </a:solidFill>
                <a:latin typeface="Calibri" panose="020F0502020204030204" pitchFamily="34" charset="0"/>
                <a:ea typeface="Calibri" panose="020F0502020204030204" pitchFamily="34" charset="-122"/>
                <a:cs typeface="Calibri" panose="020F0502020204030204" pitchFamily="34" charset="-120"/>
              </a:rPr>
              <a:t>You can embed a video your live project.]</a:t>
            </a:r>
            <a:endParaRPr sz="11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7" name=""/>
        <p:cNvGrpSpPr/>
        <p:nvPr/>
      </p:nvGrpSpPr>
      <p:grpSpPr>
        <a:xfrm>
          <a:off x="0" y="0"/>
          <a:ext cx="0" cy="0"/>
          <a:chOff x="0" y="0"/>
          <a:chExt cx="0" cy="0"/>
        </a:xfrm>
      </p:grpSpPr>
      <p:sp>
        <p:nvSpPr>
          <p:cNvPr id="1048693" name="Shape 0"/>
          <p:cNvSpPr/>
          <p:nvPr/>
        </p:nvSpPr>
        <p:spPr>
          <a:xfrm>
            <a:off x="0" y="0"/>
            <a:ext cx="9144000" cy="502920"/>
          </a:xfrm>
          <a:prstGeom prst="rect"/>
          <a:solidFill>
            <a:srgbClr val="1B3A8A"/>
          </a:solidFill>
        </p:spPr>
      </p:sp>
      <p:sp>
        <p:nvSpPr>
          <p:cNvPr id="1048694"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695"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Live Demo of Project</a:t>
            </a:r>
            <a:endParaRPr sz="2200" lang="en-US"/>
          </a:p>
        </p:txBody>
      </p:sp>
      <p:sp>
        <p:nvSpPr>
          <p:cNvPr id="1048696" name="Shape 3"/>
          <p:cNvSpPr/>
          <p:nvPr/>
        </p:nvSpPr>
        <p:spPr>
          <a:xfrm>
            <a:off x="0" y="4983480"/>
            <a:ext cx="9144000" cy="160020"/>
          </a:xfrm>
          <a:prstGeom prst="rect"/>
          <a:solidFill>
            <a:srgbClr val="1B3A8A"/>
          </a:solidFill>
        </p:spPr>
      </p:sp>
      <p:sp>
        <p:nvSpPr>
          <p:cNvPr id="1048697" name="Text 4"/>
          <p:cNvSpPr/>
          <p:nvPr/>
        </p:nvSpPr>
        <p:spPr>
          <a:xfrm>
            <a:off x="365760" y="1115568"/>
            <a:ext cx="8412480" cy="320040"/>
          </a:xfrm>
          <a:prstGeom prst="rect"/>
          <a:noFill/>
        </p:spPr>
        <p:txBody>
          <a:bodyPr anchor="ctr" rtlCol="0" wrap="square"/>
          <a:p>
            <a:pPr indent="0" marL="0">
              <a:buNone/>
            </a:pPr>
            <a:r>
              <a:rPr sz="1200" i="1" lang="en-US">
                <a:solidFill>
                  <a:srgbClr val="607D8B"/>
                </a:solidFill>
                <a:latin typeface="Calibri" panose="020F0502020204030204" pitchFamily="34" charset="0"/>
                <a:ea typeface="Calibri" panose="020F0502020204030204" pitchFamily="34" charset="-122"/>
                <a:cs typeface="Calibri" panose="020F0502020204030204" pitchFamily="34" charset="-120"/>
              </a:rPr>
              <a:t>Here's the list of some demo screenshots / features of the project:</a:t>
            </a:r>
            <a:endParaRPr sz="1200" lang="en-US"/>
          </a:p>
        </p:txBody>
      </p:sp>
      <p:sp>
        <p:nvSpPr>
          <p:cNvPr id="1048698" name="Shape 5"/>
          <p:cNvSpPr/>
          <p:nvPr>
            <p:custDataLst>
              <p:tags r:id="rId1"/>
            </p:custDataLst>
          </p:nvPr>
        </p:nvSpPr>
        <p:spPr>
          <a:xfrm>
            <a:off x="978408" y="1463040"/>
            <a:ext cx="1371600" cy="1371600"/>
          </a:xfrm>
          <a:prstGeom prst="ellipse"/>
          <a:solidFill>
            <a:srgbClr val="ECEFF1"/>
          </a:solidFill>
          <a:ln w="38100">
            <a:solidFill>
              <a:srgbClr val="FFFFFF"/>
            </a:solidFill>
            <a:prstDash val="solid"/>
          </a:ln>
        </p:spPr>
      </p:sp>
      <p:sp>
        <p:nvSpPr>
          <p:cNvPr id="1048699" name="Text 6"/>
          <p:cNvSpPr/>
          <p:nvPr/>
        </p:nvSpPr>
        <p:spPr>
          <a:xfrm>
            <a:off x="978408" y="1463040"/>
            <a:ext cx="1371600" cy="1371600"/>
          </a:xfrm>
          <a:prstGeom prst="rect"/>
          <a:noFill/>
        </p:spPr>
        <p:txBody>
          <a:bodyPr anchor="ctr" rtlCol="0" wrap="square"/>
          <a:p>
            <a:pPr algn="ctr" indent="0" marL="0">
              <a:buNone/>
            </a:pPr>
            <a:r>
              <a:rPr sz="3600" lang="en-US">
                <a:solidFill>
                  <a:srgbClr val="000000"/>
                </a:solidFill>
              </a:rPr>
              <a:t>🖼</a:t>
            </a:r>
            <a:endParaRPr sz="3600" lang="en-US"/>
          </a:p>
        </p:txBody>
      </p:sp>
      <p:sp>
        <p:nvSpPr>
          <p:cNvPr id="1048700" name="Shape 7"/>
          <p:cNvSpPr/>
          <p:nvPr>
            <p:custDataLst>
              <p:tags r:id="rId2"/>
            </p:custDataLst>
          </p:nvPr>
        </p:nvSpPr>
        <p:spPr>
          <a:xfrm>
            <a:off x="274320" y="2011680"/>
            <a:ext cx="2788920" cy="2651760"/>
          </a:xfrm>
          <a:prstGeom prst="rect"/>
          <a:solidFill>
            <a:srgbClr val="1565C0"/>
          </a:solidFill>
          <a:effectLst>
            <a:outerShdw algn="bl" blurRad="101600" dir="8100000" dist="38100" rotWithShape="0">
              <a:srgbClr val="000000">
                <a:alpha val="15000"/>
              </a:srgbClr>
            </a:outerShdw>
          </a:effectLst>
        </p:spPr>
      </p:sp>
      <p:sp>
        <p:nvSpPr>
          <p:cNvPr id="1048701" name="Text 8"/>
          <p:cNvSpPr/>
          <p:nvPr>
            <p:custDataLst>
              <p:tags r:id="rId3"/>
            </p:custDataLst>
          </p:nvPr>
        </p:nvSpPr>
        <p:spPr>
          <a:xfrm>
            <a:off x="274320" y="2651760"/>
            <a:ext cx="2788920" cy="411480"/>
          </a:xfrm>
          <a:prstGeom prst="rect"/>
          <a:noFill/>
        </p:spPr>
        <p:txBody>
          <a:bodyPr anchor="ctr" rtlCol="0" wrap="square"/>
          <a:p>
            <a:pPr algn="ctr" indent="0" marL="0">
              <a:buNone/>
            </a:pPr>
            <a:r>
              <a:rPr b="1" sz="1600" lang="en-US">
                <a:solidFill>
                  <a:srgbClr val="FFFFFF"/>
                </a:solidFill>
                <a:latin typeface="Calibri" panose="020F0502020204030204" pitchFamily="34" charset="0"/>
                <a:ea typeface="Calibri" panose="020F0502020204030204" pitchFamily="34" charset="-122"/>
                <a:cs typeface="Calibri" panose="020F0502020204030204" pitchFamily="34" charset="-120"/>
              </a:rPr>
              <a:t>Demo 1</a:t>
            </a:r>
            <a:endParaRPr sz="1600" lang="en-US"/>
          </a:p>
        </p:txBody>
      </p:sp>
      <p:sp>
        <p:nvSpPr>
          <p:cNvPr id="1048702" name="Text 9"/>
          <p:cNvSpPr/>
          <p:nvPr>
            <p:custDataLst>
              <p:tags r:id="rId4"/>
            </p:custDataLst>
          </p:nvPr>
        </p:nvSpPr>
        <p:spPr>
          <a:xfrm>
            <a:off x="411480" y="3127248"/>
            <a:ext cx="2514600" cy="1371600"/>
          </a:xfrm>
          <a:prstGeom prst="rect"/>
          <a:noFill/>
        </p:spPr>
        <p:txBody>
          <a:bodyPr anchor="ctr" rtlCol="0" wrap="square"/>
          <a:p>
            <a:pPr algn="ctr" indent="0" marL="0">
              <a:buNone/>
            </a:pPr>
            <a:endParaRPr sz="1050" lang="en-US"/>
          </a:p>
        </p:txBody>
      </p:sp>
      <p:sp>
        <p:nvSpPr>
          <p:cNvPr id="1048703" name="Shape 10"/>
          <p:cNvSpPr/>
          <p:nvPr>
            <p:custDataLst>
              <p:tags r:id="rId5"/>
            </p:custDataLst>
          </p:nvPr>
        </p:nvSpPr>
        <p:spPr>
          <a:xfrm>
            <a:off x="3922776" y="1463040"/>
            <a:ext cx="1371600" cy="1371600"/>
          </a:xfrm>
          <a:prstGeom prst="ellipse"/>
          <a:solidFill>
            <a:srgbClr val="ECEFF1"/>
          </a:solidFill>
          <a:ln w="38100">
            <a:solidFill>
              <a:srgbClr val="FFFFFF"/>
            </a:solidFill>
            <a:prstDash val="solid"/>
          </a:ln>
        </p:spPr>
      </p:sp>
      <p:sp>
        <p:nvSpPr>
          <p:cNvPr id="1048704" name="Text 11"/>
          <p:cNvSpPr/>
          <p:nvPr/>
        </p:nvSpPr>
        <p:spPr>
          <a:xfrm>
            <a:off x="3922776" y="1463040"/>
            <a:ext cx="1371600" cy="1371600"/>
          </a:xfrm>
          <a:prstGeom prst="rect"/>
          <a:noFill/>
        </p:spPr>
        <p:txBody>
          <a:bodyPr anchor="ctr" rtlCol="0" wrap="square"/>
          <a:p>
            <a:pPr algn="ctr" indent="0" marL="0">
              <a:buNone/>
            </a:pPr>
            <a:r>
              <a:rPr sz="3600" lang="en-US">
                <a:solidFill>
                  <a:srgbClr val="000000"/>
                </a:solidFill>
              </a:rPr>
              <a:t>🖼</a:t>
            </a:r>
            <a:endParaRPr sz="3600" lang="en-US"/>
          </a:p>
        </p:txBody>
      </p:sp>
      <p:sp>
        <p:nvSpPr>
          <p:cNvPr id="1048705" name="Shape 12"/>
          <p:cNvSpPr/>
          <p:nvPr>
            <p:custDataLst>
              <p:tags r:id="rId6"/>
            </p:custDataLst>
          </p:nvPr>
        </p:nvSpPr>
        <p:spPr>
          <a:xfrm>
            <a:off x="3218688" y="2011680"/>
            <a:ext cx="2788920" cy="2651760"/>
          </a:xfrm>
          <a:prstGeom prst="rect"/>
          <a:solidFill>
            <a:srgbClr val="1565C0"/>
          </a:solidFill>
          <a:effectLst>
            <a:outerShdw algn="bl" blurRad="101600" dir="8100000" dist="38100" rotWithShape="0">
              <a:srgbClr val="000000">
                <a:alpha val="15000"/>
              </a:srgbClr>
            </a:outerShdw>
          </a:effectLst>
        </p:spPr>
      </p:sp>
      <p:sp>
        <p:nvSpPr>
          <p:cNvPr id="1048706" name="Text 13"/>
          <p:cNvSpPr/>
          <p:nvPr>
            <p:custDataLst>
              <p:tags r:id="rId7"/>
            </p:custDataLst>
          </p:nvPr>
        </p:nvSpPr>
        <p:spPr>
          <a:xfrm>
            <a:off x="3218688" y="2651760"/>
            <a:ext cx="2788920" cy="411480"/>
          </a:xfrm>
          <a:prstGeom prst="rect"/>
          <a:noFill/>
        </p:spPr>
        <p:txBody>
          <a:bodyPr anchor="ctr" rtlCol="0" wrap="square"/>
          <a:p>
            <a:pPr algn="ctr" indent="0" marL="0">
              <a:buNone/>
            </a:pPr>
            <a:r>
              <a:rPr b="1" sz="1600" lang="en-US">
                <a:solidFill>
                  <a:srgbClr val="FFFFFF"/>
                </a:solidFill>
                <a:latin typeface="Calibri" panose="020F0502020204030204" pitchFamily="34" charset="0"/>
                <a:ea typeface="Calibri" panose="020F0502020204030204" pitchFamily="34" charset="-122"/>
                <a:cs typeface="Calibri" panose="020F0502020204030204" pitchFamily="34" charset="-120"/>
              </a:rPr>
              <a:t>Demo 2</a:t>
            </a:r>
            <a:endParaRPr sz="1600" lang="en-US"/>
          </a:p>
        </p:txBody>
      </p:sp>
      <p:sp>
        <p:nvSpPr>
          <p:cNvPr id="1048707" name="Text 14"/>
          <p:cNvSpPr/>
          <p:nvPr>
            <p:custDataLst>
              <p:tags r:id="rId8"/>
            </p:custDataLst>
          </p:nvPr>
        </p:nvSpPr>
        <p:spPr>
          <a:xfrm>
            <a:off x="3355848" y="3127248"/>
            <a:ext cx="2514600" cy="1371600"/>
          </a:xfrm>
          <a:prstGeom prst="rect"/>
          <a:noFill/>
        </p:spPr>
        <p:txBody>
          <a:bodyPr anchor="ctr" rtlCol="0" wrap="square"/>
          <a:p>
            <a:pPr algn="ctr" indent="0" marL="0">
              <a:buNone/>
            </a:pPr>
            <a:endParaRPr sz="1050" lang="en-US"/>
          </a:p>
        </p:txBody>
      </p:sp>
      <p:sp>
        <p:nvSpPr>
          <p:cNvPr id="1048708" name="Shape 15"/>
          <p:cNvSpPr/>
          <p:nvPr>
            <p:custDataLst>
              <p:tags r:id="rId9"/>
            </p:custDataLst>
          </p:nvPr>
        </p:nvSpPr>
        <p:spPr>
          <a:xfrm>
            <a:off x="6867144" y="1463040"/>
            <a:ext cx="1371600" cy="1371600"/>
          </a:xfrm>
          <a:prstGeom prst="ellipse"/>
          <a:solidFill>
            <a:srgbClr val="ECEFF1"/>
          </a:solidFill>
          <a:ln w="38100">
            <a:solidFill>
              <a:srgbClr val="FFFFFF"/>
            </a:solidFill>
            <a:prstDash val="solid"/>
          </a:ln>
        </p:spPr>
      </p:sp>
      <p:sp>
        <p:nvSpPr>
          <p:cNvPr id="1048709" name="Text 16"/>
          <p:cNvSpPr/>
          <p:nvPr/>
        </p:nvSpPr>
        <p:spPr>
          <a:xfrm>
            <a:off x="6867144" y="1463040"/>
            <a:ext cx="1371600" cy="1371600"/>
          </a:xfrm>
          <a:prstGeom prst="rect"/>
          <a:noFill/>
        </p:spPr>
        <p:txBody>
          <a:bodyPr anchor="ctr" rtlCol="0" wrap="square"/>
          <a:p>
            <a:pPr algn="ctr" indent="0" marL="0">
              <a:buNone/>
            </a:pPr>
            <a:r>
              <a:rPr sz="3600" lang="en-US">
                <a:solidFill>
                  <a:srgbClr val="000000"/>
                </a:solidFill>
              </a:rPr>
              <a:t>🖼</a:t>
            </a:r>
            <a:endParaRPr sz="3600" lang="en-US"/>
          </a:p>
        </p:txBody>
      </p:sp>
      <p:sp>
        <p:nvSpPr>
          <p:cNvPr id="1048710" name="Shape 17"/>
          <p:cNvSpPr/>
          <p:nvPr>
            <p:custDataLst>
              <p:tags r:id="rId10"/>
            </p:custDataLst>
          </p:nvPr>
        </p:nvSpPr>
        <p:spPr>
          <a:xfrm>
            <a:off x="6163056" y="2011680"/>
            <a:ext cx="2788920" cy="2651760"/>
          </a:xfrm>
          <a:prstGeom prst="rect"/>
          <a:solidFill>
            <a:srgbClr val="1565C0"/>
          </a:solidFill>
          <a:effectLst>
            <a:outerShdw algn="bl" blurRad="101600" dir="8100000" dist="38100" rotWithShape="0">
              <a:srgbClr val="000000">
                <a:alpha val="15000"/>
              </a:srgbClr>
            </a:outerShdw>
          </a:effectLst>
        </p:spPr>
      </p:sp>
      <p:sp>
        <p:nvSpPr>
          <p:cNvPr id="1048711" name="Text 18"/>
          <p:cNvSpPr/>
          <p:nvPr>
            <p:custDataLst>
              <p:tags r:id="rId11"/>
            </p:custDataLst>
          </p:nvPr>
        </p:nvSpPr>
        <p:spPr>
          <a:xfrm>
            <a:off x="6163056" y="2651760"/>
            <a:ext cx="2788920" cy="411480"/>
          </a:xfrm>
          <a:prstGeom prst="rect"/>
          <a:noFill/>
        </p:spPr>
        <p:txBody>
          <a:bodyPr anchor="ctr" rtlCol="0" wrap="square"/>
          <a:p>
            <a:pPr algn="ctr" indent="0" marL="0">
              <a:buNone/>
            </a:pPr>
            <a:r>
              <a:rPr b="1" sz="1600" lang="en-US">
                <a:solidFill>
                  <a:srgbClr val="FFFFFF"/>
                </a:solidFill>
                <a:latin typeface="Calibri" panose="020F0502020204030204" pitchFamily="34" charset="0"/>
                <a:ea typeface="Calibri" panose="020F0502020204030204" pitchFamily="34" charset="-122"/>
                <a:cs typeface="Calibri" panose="020F0502020204030204" pitchFamily="34" charset="-120"/>
              </a:rPr>
              <a:t>Demo 3</a:t>
            </a:r>
            <a:endParaRPr sz="1600" lang="en-US"/>
          </a:p>
        </p:txBody>
      </p:sp>
      <p:sp>
        <p:nvSpPr>
          <p:cNvPr id="1048712" name="Text 19"/>
          <p:cNvSpPr/>
          <p:nvPr>
            <p:custDataLst>
              <p:tags r:id="rId12"/>
            </p:custDataLst>
          </p:nvPr>
        </p:nvSpPr>
        <p:spPr>
          <a:xfrm>
            <a:off x="6300216" y="3127248"/>
            <a:ext cx="2514600" cy="1371600"/>
          </a:xfrm>
          <a:prstGeom prst="rect"/>
          <a:noFill/>
        </p:spPr>
        <p:txBody>
          <a:bodyPr anchor="ctr" rtlCol="0" wrap="square"/>
          <a:p>
            <a:pPr algn="ctr" indent="0" marL="0">
              <a:buNone/>
            </a:pPr>
            <a:r>
              <a:rPr sz="1050" lang="en-US">
                <a:solidFill>
                  <a:srgbClr val="FFFFFF"/>
                </a:solidFill>
                <a:latin typeface="Calibri" panose="020F0502020204030204" pitchFamily="34" charset="0"/>
                <a:ea typeface="Calibri" panose="020F0502020204030204" pitchFamily="34" charset="-122"/>
                <a:cs typeface="Calibri" panose="020F0502020204030204" pitchFamily="34" charset="-120"/>
              </a:rPr>
              <a:t>[Add description of Demo 3 here — what this demo shows, key features, and results achieved.]</a:t>
            </a:r>
            <a:endParaRPr sz="1050" lang="en-US"/>
          </a:p>
        </p:txBody>
      </p:sp>
      <p:pic>
        <p:nvPicPr>
          <p:cNvPr id="2097152" name="Picture 21"/>
          <p:cNvPicPr>
            <a:picLocks noChangeAspect="1"/>
          </p:cNvPicPr>
          <p:nvPr/>
        </p:nvPicPr>
        <p:blipFill>
          <a:blip xmlns:r="http://schemas.openxmlformats.org/officeDocument/2006/relationships" r:embed="rId13"/>
          <a:stretch>
            <a:fillRect/>
          </a:stretch>
        </p:blipFill>
        <p:spPr>
          <a:xfrm>
            <a:off x="381000" y="2266950"/>
            <a:ext cx="2545080" cy="2119630"/>
          </a:xfrm>
          <a:prstGeom prst="rect"/>
        </p:spPr>
      </p:pic>
      <p:pic>
        <p:nvPicPr>
          <p:cNvPr id="2097153" name="Picture 22"/>
          <p:cNvPicPr>
            <a:picLocks noChangeAspect="1"/>
          </p:cNvPicPr>
          <p:nvPr/>
        </p:nvPicPr>
        <p:blipFill>
          <a:blip xmlns:r="http://schemas.openxmlformats.org/officeDocument/2006/relationships" r:embed="rId14"/>
          <a:stretch>
            <a:fillRect/>
          </a:stretch>
        </p:blipFill>
        <p:spPr>
          <a:xfrm>
            <a:off x="3255010" y="2205355"/>
            <a:ext cx="2706370" cy="2142490"/>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0" name=""/>
        <p:cNvGrpSpPr/>
        <p:nvPr/>
      </p:nvGrpSpPr>
      <p:grpSpPr>
        <a:xfrm>
          <a:off x="0" y="0"/>
          <a:ext cx="0" cy="0"/>
          <a:chOff x="0" y="0"/>
          <a:chExt cx="0" cy="0"/>
        </a:xfrm>
      </p:grpSpPr>
      <p:sp>
        <p:nvSpPr>
          <p:cNvPr id="1048716" name="Shape 0"/>
          <p:cNvSpPr/>
          <p:nvPr/>
        </p:nvSpPr>
        <p:spPr>
          <a:xfrm>
            <a:off x="0" y="0"/>
            <a:ext cx="9144000" cy="502920"/>
          </a:xfrm>
          <a:prstGeom prst="rect"/>
          <a:solidFill>
            <a:srgbClr val="1B3A8A"/>
          </a:solidFill>
        </p:spPr>
      </p:sp>
      <p:sp>
        <p:nvSpPr>
          <p:cNvPr id="1048717"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718"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Conclusion</a:t>
            </a:r>
            <a:endParaRPr sz="2200" lang="en-US"/>
          </a:p>
        </p:txBody>
      </p:sp>
      <p:sp>
        <p:nvSpPr>
          <p:cNvPr id="1048719" name="Shape 3"/>
          <p:cNvSpPr/>
          <p:nvPr/>
        </p:nvSpPr>
        <p:spPr>
          <a:xfrm>
            <a:off x="0" y="4983480"/>
            <a:ext cx="9144000" cy="160020"/>
          </a:xfrm>
          <a:prstGeom prst="rect"/>
          <a:solidFill>
            <a:srgbClr val="1B3A8A"/>
          </a:solidFill>
        </p:spPr>
      </p:sp>
      <p:sp>
        <p:nvSpPr>
          <p:cNvPr id="1048720" name="Text 4"/>
          <p:cNvSpPr/>
          <p:nvPr/>
        </p:nvSpPr>
        <p:spPr>
          <a:xfrm>
            <a:off x="4754880" y="1234440"/>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Abstract of the Project</a:t>
            </a:r>
            <a:endParaRPr sz="1150" lang="en-US"/>
          </a:p>
        </p:txBody>
      </p:sp>
      <p:sp>
        <p:nvSpPr>
          <p:cNvPr id="1048721" name="Text 5"/>
          <p:cNvSpPr/>
          <p:nvPr/>
        </p:nvSpPr>
        <p:spPr>
          <a:xfrm>
            <a:off x="4754880" y="1636776"/>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Problem Statement</a:t>
            </a:r>
            <a:endParaRPr sz="1150" lang="en-US"/>
          </a:p>
        </p:txBody>
      </p:sp>
      <p:sp>
        <p:nvSpPr>
          <p:cNvPr id="1048722" name="Text 6"/>
          <p:cNvSpPr/>
          <p:nvPr/>
        </p:nvSpPr>
        <p:spPr>
          <a:xfrm>
            <a:off x="4754880" y="2039112"/>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Proposed Solution</a:t>
            </a:r>
            <a:endParaRPr sz="1150" lang="en-US"/>
          </a:p>
        </p:txBody>
      </p:sp>
      <p:sp>
        <p:nvSpPr>
          <p:cNvPr id="1048723" name="Text 7"/>
          <p:cNvSpPr/>
          <p:nvPr/>
        </p:nvSpPr>
        <p:spPr>
          <a:xfrm>
            <a:off x="4754880" y="2441448"/>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System Architecture</a:t>
            </a:r>
            <a:endParaRPr sz="1150" lang="en-US"/>
          </a:p>
        </p:txBody>
      </p:sp>
      <p:sp>
        <p:nvSpPr>
          <p:cNvPr id="1048724" name="Text 8"/>
          <p:cNvSpPr/>
          <p:nvPr/>
        </p:nvSpPr>
        <p:spPr>
          <a:xfrm>
            <a:off x="4754880" y="2843784"/>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Live Demo of the Project</a:t>
            </a:r>
            <a:endParaRPr sz="1150" lang="en-US"/>
          </a:p>
        </p:txBody>
      </p:sp>
      <p:sp>
        <p:nvSpPr>
          <p:cNvPr id="1048725" name="Text 9"/>
          <p:cNvSpPr/>
          <p:nvPr/>
        </p:nvSpPr>
        <p:spPr>
          <a:xfrm>
            <a:off x="4754880" y="3246120"/>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Embedded Video of Project</a:t>
            </a:r>
            <a:endParaRPr sz="1150" lang="en-US"/>
          </a:p>
        </p:txBody>
      </p:sp>
      <p:sp>
        <p:nvSpPr>
          <p:cNvPr id="1048726" name="Text 10"/>
          <p:cNvSpPr/>
          <p:nvPr/>
        </p:nvSpPr>
        <p:spPr>
          <a:xfrm>
            <a:off x="4754880" y="3648456"/>
            <a:ext cx="4206240" cy="384048"/>
          </a:xfrm>
          <a:prstGeom prst="rect"/>
          <a:noFill/>
        </p:spPr>
        <p:txBody>
          <a:bodyPr anchor="ctr" rtlCol="0" wrap="square"/>
          <a:p>
            <a:pPr indent="0" marL="0">
              <a:buNone/>
            </a:pPr>
            <a:r>
              <a:rPr b="1" sz="1150" lang="en-US">
                <a:solidFill>
                  <a:srgbClr val="1B3A8A"/>
                </a:solidFill>
                <a:latin typeface="Calibri" panose="020F0502020204030204" pitchFamily="34" charset="0"/>
                <a:ea typeface="Calibri" panose="020F0502020204030204" pitchFamily="34" charset="-122"/>
                <a:cs typeface="Calibri" panose="020F0502020204030204" pitchFamily="34" charset="-120"/>
              </a:rPr>
              <a:t>• Conclusion</a:t>
            </a:r>
            <a:endParaRPr sz="1150" lang="en-US"/>
          </a:p>
        </p:txBody>
      </p:sp>
      <p:sp>
        <p:nvSpPr>
          <p:cNvPr id="1048727" name="Text 11"/>
          <p:cNvSpPr/>
          <p:nvPr/>
        </p:nvSpPr>
        <p:spPr>
          <a:xfrm>
            <a:off x="4754880" y="4050792"/>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Future Scope</a:t>
            </a:r>
            <a:endParaRPr sz="1150" lang="en-US"/>
          </a:p>
        </p:txBody>
      </p:sp>
      <p:sp>
        <p:nvSpPr>
          <p:cNvPr id="1048728" name="Text 12"/>
          <p:cNvSpPr/>
          <p:nvPr/>
        </p:nvSpPr>
        <p:spPr>
          <a:xfrm>
            <a:off x="457200" y="1068070"/>
            <a:ext cx="4114800" cy="3641090"/>
          </a:xfrm>
          <a:prstGeom prst="rect"/>
          <a:noFill/>
        </p:spPr>
        <p:txBody>
          <a:bodyPr anchor="t" rtlCol="0" wrap="square"/>
          <a:p>
            <a:pPr indent="0" marL="0">
              <a:buNone/>
            </a:pPr>
            <a:r>
              <a:rPr altLang="en-US" sz="1300" lang="en-US"/>
              <a:t>The project successfully developed a Banking Customer Account Dashboard for effective financial analysis. It helped in organizing and analyzing customer financial data in a structured manner. The dashboard provides clear and meaningful insights into income, expenses, and savings patterns, making financial information easy to understand. By using tools like Excel, Power BI, and AI, the analysis becomes more efficient and accurate. Overall, the system enables users to better understand their financial health through simple and interactive visualizations, supporting improved financial decision-making.the project helps users gain a deeper understanding of their financial behavior, enabling them to identify unnecessary expenses and potential financial risks. It also supports better financial planning by highlighting trends and patterns over time. The integration of AI tools enhances insight generation, making the system smarter and more efficient.</a:t>
            </a:r>
            <a:endParaRPr altLang="en-US" sz="1300" lang="en-US"/>
          </a:p>
        </p:txBody>
      </p:sp>
      <p:sp>
        <p:nvSpPr>
          <p:cNvPr id="1048729" name="Shape 13"/>
          <p:cNvSpPr/>
          <p:nvPr/>
        </p:nvSpPr>
        <p:spPr>
          <a:xfrm>
            <a:off x="4846320" y="777240"/>
            <a:ext cx="3931920" cy="3931920"/>
          </a:xfrm>
          <a:prstGeom prst="rect"/>
          <a:solidFill>
            <a:srgbClr val="F7F9FC"/>
          </a:solidFill>
          <a:ln w="12700">
            <a:solidFill>
              <a:srgbClr val="ECEFF1"/>
            </a:solidFill>
            <a:prstDash val="solid"/>
          </a:ln>
        </p:spPr>
      </p:sp>
      <p:sp>
        <p:nvSpPr>
          <p:cNvPr id="1048730" name="Shape 14"/>
          <p:cNvSpPr/>
          <p:nvPr/>
        </p:nvSpPr>
        <p:spPr>
          <a:xfrm>
            <a:off x="5394960" y="1005840"/>
            <a:ext cx="2834640" cy="2834640"/>
          </a:xfrm>
          <a:prstGeom prst="ellipse"/>
          <a:solidFill>
            <a:srgbClr val="1B3A8A"/>
          </a:solidFill>
        </p:spPr>
      </p:sp>
      <p:sp>
        <p:nvSpPr>
          <p:cNvPr id="1048731" name="Text 15"/>
          <p:cNvSpPr/>
          <p:nvPr/>
        </p:nvSpPr>
        <p:spPr>
          <a:xfrm>
            <a:off x="5394960" y="1005840"/>
            <a:ext cx="2834640" cy="2194560"/>
          </a:xfrm>
          <a:prstGeom prst="rect"/>
          <a:noFill/>
        </p:spPr>
        <p:txBody>
          <a:bodyPr anchor="ctr" rtlCol="0" wrap="square"/>
          <a:p>
            <a:pPr algn="ctr" indent="0" marL="0">
              <a:buNone/>
            </a:pPr>
            <a:r>
              <a:rPr sz="6000" lang="en-US">
                <a:solidFill>
                  <a:srgbClr val="000000"/>
                </a:solidFill>
              </a:rPr>
              <a:t>✅</a:t>
            </a:r>
            <a:endParaRPr sz="6000" lang="en-US"/>
          </a:p>
        </p:txBody>
      </p:sp>
      <p:sp>
        <p:nvSpPr>
          <p:cNvPr id="1048732" name="Shape 16"/>
          <p:cNvSpPr/>
          <p:nvPr/>
        </p:nvSpPr>
        <p:spPr>
          <a:xfrm>
            <a:off x="5303520" y="3474720"/>
            <a:ext cx="3017520" cy="502920"/>
          </a:xfrm>
          <a:prstGeom prst="rect"/>
          <a:solidFill>
            <a:srgbClr val="1565C0"/>
          </a:solidFill>
        </p:spPr>
      </p:sp>
      <p:sp>
        <p:nvSpPr>
          <p:cNvPr id="1048733" name="Text 17"/>
          <p:cNvSpPr/>
          <p:nvPr/>
        </p:nvSpPr>
        <p:spPr>
          <a:xfrm>
            <a:off x="5303520" y="3474720"/>
            <a:ext cx="3017520" cy="502920"/>
          </a:xfrm>
          <a:prstGeom prst="rect"/>
          <a:noFill/>
        </p:spPr>
        <p:txBody>
          <a:bodyPr anchor="ctr" rtlCol="0" wrap="square"/>
          <a:p>
            <a:pPr algn="ctr" indent="0" marL="0">
              <a:buNone/>
            </a:pPr>
            <a:r>
              <a:rPr b="1" sz="1600" kern="0" lang="en-US" spc="20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sz="16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3" name=""/>
        <p:cNvGrpSpPr/>
        <p:nvPr/>
      </p:nvGrpSpPr>
      <p:grpSpPr>
        <a:xfrm>
          <a:off x="0" y="0"/>
          <a:ext cx="0" cy="0"/>
          <a:chOff x="0" y="0"/>
          <a:chExt cx="0" cy="0"/>
        </a:xfrm>
      </p:grpSpPr>
      <p:sp>
        <p:nvSpPr>
          <p:cNvPr id="1048737" name="Shape 0"/>
          <p:cNvSpPr/>
          <p:nvPr/>
        </p:nvSpPr>
        <p:spPr>
          <a:xfrm>
            <a:off x="0" y="0"/>
            <a:ext cx="9144000" cy="502920"/>
          </a:xfrm>
          <a:prstGeom prst="rect"/>
          <a:solidFill>
            <a:srgbClr val="1B3A8A"/>
          </a:solidFill>
        </p:spPr>
      </p:sp>
      <p:sp>
        <p:nvSpPr>
          <p:cNvPr id="1048738" name="Text 1"/>
          <p:cNvSpPr/>
          <p:nvPr/>
        </p:nvSpPr>
        <p:spPr>
          <a:xfrm>
            <a:off x="7772400" y="45720"/>
            <a:ext cx="1280160"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739" name="Text 2"/>
          <p:cNvSpPr/>
          <p:nvPr/>
        </p:nvSpPr>
        <p:spPr>
          <a:xfrm>
            <a:off x="320040" y="621792"/>
            <a:ext cx="8229600" cy="438912"/>
          </a:xfrm>
          <a:prstGeom prst="rect"/>
          <a:noFill/>
        </p:spPr>
        <p:txBody>
          <a:bodyPr anchor="ctr" rtlCol="0" wrap="square"/>
          <a:p>
            <a:pPr indent="0" marL="0">
              <a:buNone/>
            </a:pPr>
            <a:r>
              <a:rPr b="1" sz="2200" lang="en-US">
                <a:solidFill>
                  <a:srgbClr val="1B3A8A"/>
                </a:solidFill>
                <a:latin typeface="Calibri" panose="020F0502020204030204" pitchFamily="34" charset="0"/>
                <a:ea typeface="Calibri" panose="020F0502020204030204" pitchFamily="34" charset="-122"/>
                <a:cs typeface="Calibri" panose="020F0502020204030204" pitchFamily="34" charset="-120"/>
              </a:rPr>
              <a:t>Future Scope</a:t>
            </a:r>
            <a:endParaRPr sz="2200" lang="en-US"/>
          </a:p>
        </p:txBody>
      </p:sp>
      <p:sp>
        <p:nvSpPr>
          <p:cNvPr id="1048740" name="Shape 3"/>
          <p:cNvSpPr/>
          <p:nvPr/>
        </p:nvSpPr>
        <p:spPr>
          <a:xfrm>
            <a:off x="0" y="4983480"/>
            <a:ext cx="9144000" cy="160020"/>
          </a:xfrm>
          <a:prstGeom prst="rect"/>
          <a:solidFill>
            <a:srgbClr val="1B3A8A"/>
          </a:solidFill>
        </p:spPr>
      </p:sp>
      <p:sp>
        <p:nvSpPr>
          <p:cNvPr id="1048741" name="Text 4"/>
          <p:cNvSpPr/>
          <p:nvPr/>
        </p:nvSpPr>
        <p:spPr>
          <a:xfrm>
            <a:off x="4754880" y="1234440"/>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Abstract of the Project</a:t>
            </a:r>
            <a:endParaRPr sz="1150" lang="en-US"/>
          </a:p>
        </p:txBody>
      </p:sp>
      <p:sp>
        <p:nvSpPr>
          <p:cNvPr id="1048742" name="Text 5"/>
          <p:cNvSpPr/>
          <p:nvPr/>
        </p:nvSpPr>
        <p:spPr>
          <a:xfrm>
            <a:off x="4754880" y="1636776"/>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Problem Statement</a:t>
            </a:r>
            <a:endParaRPr sz="1150" lang="en-US"/>
          </a:p>
        </p:txBody>
      </p:sp>
      <p:sp>
        <p:nvSpPr>
          <p:cNvPr id="1048743" name="Text 6"/>
          <p:cNvSpPr/>
          <p:nvPr/>
        </p:nvSpPr>
        <p:spPr>
          <a:xfrm>
            <a:off x="4754880" y="2039112"/>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Proposed Solution</a:t>
            </a:r>
            <a:endParaRPr sz="1150" lang="en-US"/>
          </a:p>
        </p:txBody>
      </p:sp>
      <p:sp>
        <p:nvSpPr>
          <p:cNvPr id="1048744" name="Text 7"/>
          <p:cNvSpPr/>
          <p:nvPr/>
        </p:nvSpPr>
        <p:spPr>
          <a:xfrm>
            <a:off x="4754880" y="2441448"/>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System Architecture</a:t>
            </a:r>
            <a:endParaRPr sz="1150" lang="en-US"/>
          </a:p>
        </p:txBody>
      </p:sp>
      <p:sp>
        <p:nvSpPr>
          <p:cNvPr id="1048745" name="Text 8"/>
          <p:cNvSpPr/>
          <p:nvPr/>
        </p:nvSpPr>
        <p:spPr>
          <a:xfrm>
            <a:off x="4754880" y="2843784"/>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Live Demo of the Project</a:t>
            </a:r>
            <a:endParaRPr sz="1150" lang="en-US"/>
          </a:p>
        </p:txBody>
      </p:sp>
      <p:sp>
        <p:nvSpPr>
          <p:cNvPr id="1048746" name="Text 9"/>
          <p:cNvSpPr/>
          <p:nvPr/>
        </p:nvSpPr>
        <p:spPr>
          <a:xfrm>
            <a:off x="4754880" y="3246120"/>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Embedded Video of Project</a:t>
            </a:r>
            <a:endParaRPr sz="1150" lang="en-US"/>
          </a:p>
        </p:txBody>
      </p:sp>
      <p:sp>
        <p:nvSpPr>
          <p:cNvPr id="1048747" name="Text 10"/>
          <p:cNvSpPr/>
          <p:nvPr/>
        </p:nvSpPr>
        <p:spPr>
          <a:xfrm>
            <a:off x="4754880" y="3648456"/>
            <a:ext cx="4206240" cy="384048"/>
          </a:xfrm>
          <a:prstGeom prst="rect"/>
          <a:noFill/>
        </p:spPr>
        <p:txBody>
          <a:bodyPr anchor="ctr" rtlCol="0" wrap="square"/>
          <a:p>
            <a:pPr indent="0" marL="0">
              <a:buNone/>
            </a:pPr>
            <a:r>
              <a:rPr sz="1150" lang="en-US">
                <a:solidFill>
                  <a:srgbClr val="1565C0"/>
                </a:solidFill>
                <a:latin typeface="Calibri" panose="020F0502020204030204" pitchFamily="34" charset="0"/>
                <a:ea typeface="Calibri" panose="020F0502020204030204" pitchFamily="34" charset="-122"/>
                <a:cs typeface="Calibri" panose="020F0502020204030204" pitchFamily="34" charset="-120"/>
              </a:rPr>
              <a:t>• </a:t>
            </a:r>
            <a:r>
              <a:rPr sz="1150" lang="en-US">
                <a:solidFill>
                  <a:srgbClr val="607D8B"/>
                </a:solidFill>
                <a:latin typeface="Calibri" panose="020F0502020204030204" pitchFamily="34" charset="0"/>
                <a:ea typeface="Calibri" panose="020F0502020204030204" pitchFamily="34" charset="-122"/>
                <a:cs typeface="Calibri" panose="020F0502020204030204" pitchFamily="34" charset="-120"/>
              </a:rPr>
              <a:t>Conclusion</a:t>
            </a:r>
            <a:endParaRPr sz="1150" lang="en-US"/>
          </a:p>
        </p:txBody>
      </p:sp>
      <p:sp>
        <p:nvSpPr>
          <p:cNvPr id="1048748" name="Text 11"/>
          <p:cNvSpPr/>
          <p:nvPr/>
        </p:nvSpPr>
        <p:spPr>
          <a:xfrm>
            <a:off x="4754880" y="4050792"/>
            <a:ext cx="4206240" cy="384048"/>
          </a:xfrm>
          <a:prstGeom prst="rect"/>
          <a:noFill/>
        </p:spPr>
        <p:txBody>
          <a:bodyPr anchor="ctr" rtlCol="0" wrap="square"/>
          <a:p>
            <a:pPr indent="0" marL="0">
              <a:buNone/>
            </a:pPr>
            <a:r>
              <a:rPr b="1" sz="1150" lang="en-US">
                <a:solidFill>
                  <a:srgbClr val="1B3A8A"/>
                </a:solidFill>
                <a:latin typeface="Calibri" panose="020F0502020204030204" pitchFamily="34" charset="0"/>
                <a:ea typeface="Calibri" panose="020F0502020204030204" pitchFamily="34" charset="-122"/>
                <a:cs typeface="Calibri" panose="020F0502020204030204" pitchFamily="34" charset="-120"/>
              </a:rPr>
              <a:t>• Future Scope</a:t>
            </a:r>
            <a:endParaRPr sz="1150" lang="en-US"/>
          </a:p>
        </p:txBody>
      </p:sp>
      <p:sp>
        <p:nvSpPr>
          <p:cNvPr id="1048749" name="Text 12"/>
          <p:cNvSpPr/>
          <p:nvPr/>
        </p:nvSpPr>
        <p:spPr>
          <a:xfrm>
            <a:off x="457200" y="1089025"/>
            <a:ext cx="4114800" cy="3619500"/>
          </a:xfrm>
          <a:prstGeom prst="rect"/>
          <a:noFill/>
        </p:spPr>
        <p:txBody>
          <a:bodyPr anchor="t" rtlCol="0" wrap="square"/>
          <a:p>
            <a:pPr indent="0" marL="0">
              <a:buNone/>
            </a:pPr>
            <a:r>
              <a:rPr altLang="en-US" sz="1300" lang="en-US"/>
              <a:t>Add real-time data integration from bank servers for live updates. Use advanced AI/ML models to predict future expenses and savings. Provide personalized financial advice based on user behavior. Develop a mobile application for easy access anytime, anywhere. Integrate with multiple bank accounts and UPI apps in one dashboard.The project can be further enhanced by integrating real-time data from bank servers, allowing users to access up-to-date financial information instantly. Advanced AI and machine learning models can be implemented to predict future expenses, savings, and financial trends, helping users plan better. The system can also be improved by providing personalized financial advice based on individual spending behavior and income patterns. Additionally, developing a mobile application would make the dashboard more accessible, enabling users to monitor their finances anytime and anywhere.</a:t>
            </a:r>
            <a:endParaRPr altLang="en-US" sz="1300" lang="en-US"/>
          </a:p>
        </p:txBody>
      </p:sp>
      <p:sp>
        <p:nvSpPr>
          <p:cNvPr id="1048750" name="Shape 13"/>
          <p:cNvSpPr/>
          <p:nvPr/>
        </p:nvSpPr>
        <p:spPr>
          <a:xfrm>
            <a:off x="4846320" y="777240"/>
            <a:ext cx="3931920" cy="3931920"/>
          </a:xfrm>
          <a:prstGeom prst="rect"/>
          <a:solidFill>
            <a:srgbClr val="F7F9FC"/>
          </a:solidFill>
          <a:ln w="12700">
            <a:solidFill>
              <a:srgbClr val="ECEFF1"/>
            </a:solidFill>
            <a:prstDash val="solid"/>
          </a:ln>
        </p:spPr>
      </p:sp>
      <p:sp>
        <p:nvSpPr>
          <p:cNvPr id="1048751" name="Text 14"/>
          <p:cNvSpPr/>
          <p:nvPr/>
        </p:nvSpPr>
        <p:spPr>
          <a:xfrm>
            <a:off x="4846320" y="914400"/>
            <a:ext cx="3931920" cy="2926080"/>
          </a:xfrm>
          <a:prstGeom prst="rect"/>
          <a:noFill/>
        </p:spPr>
        <p:txBody>
          <a:bodyPr anchor="ctr" rtlCol="0" wrap="square"/>
          <a:p>
            <a:pPr algn="ctr" indent="0" marL="0">
              <a:buNone/>
            </a:pPr>
            <a:r>
              <a:rPr sz="10000" lang="en-US">
                <a:solidFill>
                  <a:srgbClr val="000000"/>
                </a:solidFill>
              </a:rPr>
              <a:t>🧠</a:t>
            </a:r>
            <a:endParaRPr sz="10000" lang="en-US"/>
          </a:p>
        </p:txBody>
      </p:sp>
      <p:sp>
        <p:nvSpPr>
          <p:cNvPr id="1048752" name="Text 15"/>
          <p:cNvSpPr/>
          <p:nvPr/>
        </p:nvSpPr>
        <p:spPr>
          <a:xfrm>
            <a:off x="4846320" y="3703320"/>
            <a:ext cx="3931920" cy="320040"/>
          </a:xfrm>
          <a:prstGeom prst="rect"/>
          <a:noFill/>
        </p:spPr>
        <p:txBody>
          <a:bodyPr anchor="ctr" rtlCol="0" wrap="square"/>
          <a:p>
            <a:pPr algn="ctr" indent="0" marL="0">
              <a:buNone/>
            </a:pPr>
            <a:r>
              <a:rPr sz="1000" i="1" lang="en-US">
                <a:solidFill>
                  <a:srgbClr val="607D8B"/>
                </a:solidFill>
                <a:latin typeface="Calibri" panose="020F0502020204030204" pitchFamily="34" charset="0"/>
                <a:ea typeface="Calibri" panose="020F0502020204030204" pitchFamily="34" charset="-122"/>
                <a:cs typeface="Calibri" panose="020F0502020204030204" pitchFamily="34" charset="-120"/>
              </a:rPr>
              <a:t>[Future ideas &amp; roadmap]</a:t>
            </a:r>
            <a:endParaRPr sz="10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6" name=""/>
        <p:cNvGrpSpPr/>
        <p:nvPr/>
      </p:nvGrpSpPr>
      <p:grpSpPr>
        <a:xfrm>
          <a:off x="0" y="0"/>
          <a:ext cx="0" cy="0"/>
          <a:chOff x="0" y="0"/>
          <a:chExt cx="0" cy="0"/>
        </a:xfrm>
      </p:grpSpPr>
      <p:sp>
        <p:nvSpPr>
          <p:cNvPr id="1048756" name="Shape 0"/>
          <p:cNvSpPr/>
          <p:nvPr/>
        </p:nvSpPr>
        <p:spPr>
          <a:xfrm>
            <a:off x="0" y="0"/>
            <a:ext cx="9144000" cy="502920"/>
          </a:xfrm>
          <a:prstGeom prst="rect"/>
          <a:solidFill>
            <a:srgbClr val="1B3A8A"/>
          </a:solidFill>
        </p:spPr>
      </p:sp>
      <p:sp>
        <p:nvSpPr>
          <p:cNvPr id="1048757" name="Text 1"/>
          <p:cNvSpPr/>
          <p:nvPr/>
        </p:nvSpPr>
        <p:spPr>
          <a:xfrm>
            <a:off x="6305973" y="45720"/>
            <a:ext cx="2746587" cy="411480"/>
          </a:xfrm>
          <a:prstGeom prst="rect"/>
          <a:noFill/>
        </p:spPr>
        <p:txBody>
          <a:bodyPr anchor="ctr" rtlCol="0" wrap="square"/>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edunet</a:t>
            </a:r>
            <a:endParaRPr sz="800" lang="en-US"/>
          </a:p>
          <a:p>
            <a:pPr algn="r" indent="0" marL="0">
              <a:buNone/>
            </a:pPr>
            <a:r>
              <a:rPr b="1" sz="800" lang="en-US">
                <a:solidFill>
                  <a:srgbClr val="4FC3F7"/>
                </a:solidFill>
                <a:latin typeface="Calibri" panose="020F0502020204030204" pitchFamily="34" charset="0"/>
                <a:ea typeface="Calibri" panose="020F0502020204030204" pitchFamily="34" charset="-122"/>
                <a:cs typeface="Calibri" panose="020F0502020204030204" pitchFamily="34" charset="-120"/>
              </a:rPr>
              <a:t>foundation</a:t>
            </a:r>
            <a:endParaRPr sz="800" lang="en-US"/>
          </a:p>
        </p:txBody>
      </p:sp>
      <p:sp>
        <p:nvSpPr>
          <p:cNvPr id="1048758" name="Text 2"/>
          <p:cNvSpPr/>
          <p:nvPr/>
        </p:nvSpPr>
        <p:spPr>
          <a:xfrm>
            <a:off x="914400" y="1371600"/>
            <a:ext cx="7315200" cy="1463040"/>
          </a:xfrm>
          <a:prstGeom prst="rect"/>
          <a:noFill/>
        </p:spPr>
        <p:txBody>
          <a:bodyPr anchor="ctr" rtlCol="0" wrap="square"/>
          <a:p>
            <a:pPr algn="ctr" indent="0" marL="0">
              <a:buNone/>
            </a:pPr>
            <a:r>
              <a:rPr b="1" sz="7200" lang="en-US">
                <a:solidFill>
                  <a:srgbClr val="1B3A8A"/>
                </a:solidFill>
                <a:latin typeface="Calibri" panose="020F0502020204030204" pitchFamily="34" charset="0"/>
                <a:ea typeface="Calibri" panose="020F0502020204030204" pitchFamily="34" charset="-122"/>
                <a:cs typeface="Calibri" panose="020F0502020204030204" pitchFamily="34" charset="-120"/>
              </a:rPr>
              <a:t>Thank You</a:t>
            </a:r>
            <a:endParaRPr sz="7200" lang="en-US"/>
          </a:p>
        </p:txBody>
      </p:sp>
      <p:sp>
        <p:nvSpPr>
          <p:cNvPr id="1048759" name="Text 3"/>
          <p:cNvSpPr/>
          <p:nvPr/>
        </p:nvSpPr>
        <p:spPr>
          <a:xfrm>
            <a:off x="914400" y="3017520"/>
            <a:ext cx="7315200" cy="411480"/>
          </a:xfrm>
          <a:prstGeom prst="rect"/>
          <a:noFill/>
        </p:spPr>
        <p:txBody>
          <a:bodyPr anchor="ctr" rtlCol="0" wrap="square"/>
          <a:p>
            <a:pPr algn="ctr" indent="0" marL="0">
              <a:buNone/>
            </a:pPr>
            <a:r>
              <a:rPr sz="1400" kern="0" lang="en-US" spc="200">
                <a:solidFill>
                  <a:srgbClr val="1565C0"/>
                </a:solidFill>
                <a:latin typeface="Calibri" panose="020F0502020204030204" pitchFamily="34" charset="0"/>
                <a:ea typeface="Calibri" panose="020F0502020204030204" pitchFamily="34" charset="-122"/>
                <a:cs typeface="Calibri" panose="020F0502020204030204" pitchFamily="34" charset="-120"/>
              </a:rPr>
              <a:t>AICW Fellowship  |  Student Project Presentation 2026</a:t>
            </a:r>
            <a:endParaRPr sz="1400" lang="en-US"/>
          </a:p>
        </p:txBody>
      </p:sp>
      <p:sp>
        <p:nvSpPr>
          <p:cNvPr id="1048760" name="Text 4"/>
          <p:cNvSpPr/>
          <p:nvPr/>
        </p:nvSpPr>
        <p:spPr>
          <a:xfrm>
            <a:off x="914400" y="3566160"/>
            <a:ext cx="7315200" cy="320040"/>
          </a:xfrm>
          <a:prstGeom prst="rect"/>
          <a:noFill/>
        </p:spPr>
        <p:txBody>
          <a:bodyPr anchor="ctr" bIns="45720" lIns="91440" rIns="91440" rtlCol="0" tIns="45720" wrap="square"/>
          <a:p>
            <a:pPr algn="ctr" indent="0" marL="0">
              <a:buNone/>
            </a:pPr>
            <a:r>
              <a:rPr sz="1100" lang="en-US">
                <a:solidFill>
                  <a:srgbClr val="607D8B"/>
                </a:solidFill>
                <a:latin typeface="Calibri" panose="020F0502020204030204"/>
                <a:ea typeface="Calibri" panose="020F0502020204030204"/>
                <a:cs typeface="Calibri" panose="020F0502020204030204"/>
              </a:rPr>
              <a:t>  LinkedIn  |   Edunet Foundation</a:t>
            </a:r>
            <a:endParaRPr sz="1100" lang="en-US"/>
          </a:p>
        </p:txBody>
      </p:sp>
      <p:sp>
        <p:nvSpPr>
          <p:cNvPr id="1048761" name="Shape 5"/>
          <p:cNvSpPr/>
          <p:nvPr/>
        </p:nvSpPr>
        <p:spPr>
          <a:xfrm>
            <a:off x="0" y="4983480"/>
            <a:ext cx="9144000" cy="160020"/>
          </a:xfrm>
          <a:prstGeom prst="rect"/>
          <a:solidFill>
            <a:srgbClr val="1B3A8A"/>
          </a:solidFill>
        </p:spPr>
      </p:sp>
    </p:spTree>
  </p:cSld>
  <p:clrMapOvr>
    <a:masterClrMapping/>
  </p:clrMapOvr>
</p:sld>
</file>

<file path=ppt/tags/tag1.xml><?xml version="1.0" encoding="utf-8"?>
<p:tagLst xmlns:p="http://schemas.openxmlformats.org/presentationml/2006/main">
  <p:tag name="KSO_WM_DIAGRAM_VIRTUALLY_FRAME" val="{&quot;height&quot;:273.6,&quot;left&quot;:21.6,&quot;top&quot;:86.4,&quot;width&quot;:684}"/>
</p:tagLst>
</file>

<file path=ppt/tags/tag2.xml><?xml version="1.0" encoding="utf-8"?>
<p:tagLst xmlns:p="http://schemas.openxmlformats.org/presentationml/2006/main">
  <p:tag name="KSO_WM_DIAGRAM_VIRTUALLY_FRAME" val="{&quot;height&quot;:273.6,&quot;left&quot;:21.6,&quot;top&quot;:86.4,&quot;width&quot;:684}"/>
</p:tagLst>
</file>

<file path=ppt/tags/tag3.xml><?xml version="1.0" encoding="utf-8"?>
<p:tagLst xmlns:p="http://schemas.openxmlformats.org/presentationml/2006/main">
  <p:tag name="KSO_WM_DIAGRAM_VIRTUALLY_FRAME" val="{&quot;height&quot;:273.6,&quot;left&quot;:21.6,&quot;top&quot;:86.4,&quot;width&quot;:684}"/>
</p:tagLst>
</file>

<file path=ppt/tags/tag4.xml><?xml version="1.0" encoding="utf-8"?>
<p:tagLst xmlns:p="http://schemas.openxmlformats.org/presentationml/2006/main">
  <p:tag name="KSO_WM_DIAGRAM_VIRTUALLY_FRAME" val="{&quot;height&quot;:273.6,&quot;left&quot;:21.6,&quot;top&quot;:86.4,&quot;width&quot;:684}"/>
</p:tagLst>
</file>

<file path=ppt/tags/tag5.xml><?xml version="1.0" encoding="utf-8"?>
<p:tagLst xmlns:p="http://schemas.openxmlformats.org/presentationml/2006/main">
  <p:tag name="KSO_WM_DIAGRAM_VIRTUALLY_FRAME" val="{&quot;height&quot;:273.6,&quot;left&quot;:21.6,&quot;top&quot;:86.4,&quot;width&quot;:684}"/>
</p:tagLst>
</file>

<file path=ppt/tags/tag6.xml><?xml version="1.0" encoding="utf-8"?>
<p:tagLst xmlns:p="http://schemas.openxmlformats.org/presentationml/2006/main">
  <p:tag name="KSO_WM_DIAGRAM_VIRTUALLY_FRAME" val="{&quot;height&quot;:273.6,&quot;left&quot;:21.6,&quot;top&quot;:86.4,&quot;width&quot;:684}"/>
</p:tagLst>
</file>

<file path=ppt/tags/tag7.xml><?xml version="1.0" encoding="utf-8"?>
<p:tagLst xmlns:p="http://schemas.openxmlformats.org/presentationml/2006/main">
  <p:tag name="KSO_WM_DIAGRAM_VIRTUALLY_FRAME" val="{&quot;height&quot;:273.6,&quot;left&quot;:21.6,&quot;top&quot;:86.4,&quot;width&quot;:684}"/>
</p:tagLst>
</file>

<file path=ppt/tags/tag8.xml><?xml version="1.0" encoding="utf-8"?>
<p:tagLst xmlns:p="http://schemas.openxmlformats.org/presentationml/2006/main">
  <p:tag name="KSO_WM_DIAGRAM_VIRTUALLY_FRAME" val="{&quot;height&quot;:273.6,&quot;left&quot;:21.6,&quot;top&quot;:86.4,&quot;width&quot;:684}"/>
</p:tagLst>
</file>

<file path=ppt/tags/tag9.xml><?xml version="1.0" encoding="utf-8"?>
<p:tagLst xmlns:p="http://schemas.openxmlformats.org/presentationml/2006/main">
  <p:tag name="KSO_WM_DIAGRAM_VIRTUALLY_FRAME" val="{&quot;height&quot;:273.6,&quot;left&quot;:21.6,&quot;top&quot;:86.4,&quot;width&quot;:684}"/>
</p:tagLst>
</file>

<file path=ppt/tags/tag10.xml><?xml version="1.0" encoding="utf-8"?>
<p:tagLst xmlns:p="http://schemas.openxmlformats.org/presentationml/2006/main">
  <p:tag name="KSO_WM_DIAGRAM_VIRTUALLY_FRAME" val="{&quot;height&quot;:273.6,&quot;left&quot;:21.6,&quot;top&quot;:86.4,&quot;width&quot;:684}"/>
</p:tagLst>
</file>

<file path=ppt/tags/tag11.xml><?xml version="1.0" encoding="utf-8"?>
<p:tagLst xmlns:p="http://schemas.openxmlformats.org/presentationml/2006/main">
  <p:tag name="KSO_WM_DIAGRAM_VIRTUALLY_FRAME" val="{&quot;height&quot;:273.6,&quot;left&quot;:21.6,&quot;top&quot;:86.4,&quot;width&quot;:684}"/>
</p:tagLst>
</file>

<file path=ppt/tags/tag12.xml><?xml version="1.0" encoding="utf-8"?>
<p:tagLst xmlns:p="http://schemas.openxmlformats.org/presentationml/2006/main">
  <p:tag name="KSO_WM_DIAGRAM_VIRTUALLY_FRAME" val="{&quot;height&quot;:273.6,&quot;left&quot;:21.6,&quot;top&quot;:86.4,&quot;width&quot;:684}"/>
</p:tagLst>
</file>

<file path=ppt/tags/tag13.xml><?xml version="1.0" encoding="utf-8"?>
<p:tagLst xmlns:p="http://schemas.openxmlformats.org/presentationml/2006/main">
  <p:tag name="KSO_WM_DIAGRAM_VIRTUALLY_FRAME" val="{&quot;height&quot;:273.6,&quot;left&quot;:21.6,&quot;top&quot;:86.4,&quot;width&quot;:684}"/>
</p:tagLst>
</file>

<file path=ppt/tags/tag14.xml><?xml version="1.0" encoding="utf-8"?>
<p:tagLst xmlns:p="http://schemas.openxmlformats.org/presentationml/2006/main">
  <p:tag name="KSO_WM_DIAGRAM_VIRTUALLY_FRAME" val="{&quot;height&quot;:273.6,&quot;left&quot;:21.6,&quot;top&quot;:86.4,&quot;width&quot;:684}"/>
</p:tagLst>
</file>

<file path=ppt/tags/tag15.xml><?xml version="1.0" encoding="utf-8"?>
<p:tagLst xmlns:p="http://schemas.openxmlformats.org/presentationml/2006/main">
  <p:tag name="KSO_WM_DIAGRAM_VIRTUALLY_FRAME" val="{&quot;height&quot;:273.6,&quot;left&quot;:21.6,&quot;top&quot;:86.4,&quot;width&quot;:684}"/>
</p:tagLst>
</file>

<file path=ppt/tags/tag16.xml><?xml version="1.0" encoding="utf-8"?>
<p:tagLst xmlns:p="http://schemas.openxmlformats.org/presentationml/2006/main">
  <p:tag name="KSO_WM_DIAGRAM_VIRTUALLY_FRAME" val="{&quot;height&quot;:273.6,&quot;left&quot;:21.6,&quot;top&quot;:86.4,&quot;width&quot;:684}"/>
</p:tagLst>
</file>

<file path=ppt/tags/tag17.xml><?xml version="1.0" encoding="utf-8"?>
<p:tagLst xmlns:p="http://schemas.openxmlformats.org/presentationml/2006/main">
  <p:tag name="KSO_WM_DIAGRAM_VIRTUALLY_FRAME" val="{&quot;height&quot;:252,&quot;left&quot;:21.6,&quot;top&quot;:115.2,&quot;width&quot;:683.28}"/>
</p:tagLst>
</file>

<file path=ppt/tags/tag18.xml><?xml version="1.0" encoding="utf-8"?>
<p:tagLst xmlns:p="http://schemas.openxmlformats.org/presentationml/2006/main">
  <p:tag name="KSO_WM_DIAGRAM_VIRTUALLY_FRAME" val="{&quot;height&quot;:252,&quot;left&quot;:21.6,&quot;top&quot;:115.2,&quot;width&quot;:683.28}"/>
</p:tagLst>
</file>

<file path=ppt/tags/tag19.xml><?xml version="1.0" encoding="utf-8"?>
<p:tagLst xmlns:p="http://schemas.openxmlformats.org/presentationml/2006/main">
  <p:tag name="KSO_WM_DIAGRAM_VIRTUALLY_FRAME" val="{&quot;height&quot;:252,&quot;left&quot;:21.6,&quot;top&quot;:115.2,&quot;width&quot;:683.28}"/>
</p:tagLst>
</file>

<file path=ppt/tags/tag20.xml><?xml version="1.0" encoding="utf-8"?>
<p:tagLst xmlns:p="http://schemas.openxmlformats.org/presentationml/2006/main">
  <p:tag name="KSO_WM_DIAGRAM_VIRTUALLY_FRAME" val="{&quot;height&quot;:252,&quot;left&quot;:21.6,&quot;top&quot;:115.2,&quot;width&quot;:683.28}"/>
</p:tagLst>
</file>

<file path=ppt/tags/tag21.xml><?xml version="1.0" encoding="utf-8"?>
<p:tagLst xmlns:p="http://schemas.openxmlformats.org/presentationml/2006/main">
  <p:tag name="KSO_WM_DIAGRAM_VIRTUALLY_FRAME" val="{&quot;height&quot;:252,&quot;left&quot;:21.6,&quot;top&quot;:115.2,&quot;width&quot;:683.28}"/>
</p:tagLst>
</file>

<file path=ppt/tags/tag22.xml><?xml version="1.0" encoding="utf-8"?>
<p:tagLst xmlns:p="http://schemas.openxmlformats.org/presentationml/2006/main">
  <p:tag name="KSO_WM_DIAGRAM_VIRTUALLY_FRAME" val="{&quot;height&quot;:252,&quot;left&quot;:21.6,&quot;top&quot;:115.2,&quot;width&quot;:683.28}"/>
</p:tagLst>
</file>

<file path=ppt/tags/tag23.xml><?xml version="1.0" encoding="utf-8"?>
<p:tagLst xmlns:p="http://schemas.openxmlformats.org/presentationml/2006/main">
  <p:tag name="KSO_WM_DIAGRAM_VIRTUALLY_FRAME" val="{&quot;height&quot;:252,&quot;left&quot;:21.6,&quot;top&quot;:115.2,&quot;width&quot;:683.28}"/>
</p:tagLst>
</file>

<file path=ppt/tags/tag24.xml><?xml version="1.0" encoding="utf-8"?>
<p:tagLst xmlns:p="http://schemas.openxmlformats.org/presentationml/2006/main">
  <p:tag name="KSO_WM_DIAGRAM_VIRTUALLY_FRAME" val="{&quot;height&quot;:252,&quot;left&quot;:21.6,&quot;top&quot;:115.2,&quot;width&quot;:683.28}"/>
</p:tagLst>
</file>

<file path=ppt/tags/tag25.xml><?xml version="1.0" encoding="utf-8"?>
<p:tagLst xmlns:p="http://schemas.openxmlformats.org/presentationml/2006/main">
  <p:tag name="KSO_WM_DIAGRAM_VIRTUALLY_FRAME" val="{&quot;height&quot;:252,&quot;left&quot;:21.6,&quot;top&quot;:115.2,&quot;width&quot;:683.28}"/>
</p:tagLst>
</file>

<file path=ppt/tags/tag26.xml><?xml version="1.0" encoding="utf-8"?>
<p:tagLst xmlns:p="http://schemas.openxmlformats.org/presentationml/2006/main">
  <p:tag name="KSO_WM_DIAGRAM_VIRTUALLY_FRAME" val="{&quot;height&quot;:252,&quot;left&quot;:21.6,&quot;top&quot;:115.2,&quot;width&quot;:683.28}"/>
</p:tagLst>
</file>

<file path=ppt/tags/tag27.xml><?xml version="1.0" encoding="utf-8"?>
<p:tagLst xmlns:p="http://schemas.openxmlformats.org/presentationml/2006/main">
  <p:tag name="KSO_WM_DIAGRAM_VIRTUALLY_FRAME" val="{&quot;height&quot;:252,&quot;left&quot;:21.6,&quot;top&quot;:115.2,&quot;width&quot;:683.28}"/>
</p:tagLst>
</file>

<file path=ppt/tags/tag28.xml><?xml version="1.0" encoding="utf-8"?>
<p:tagLst xmlns:p="http://schemas.openxmlformats.org/presentationml/2006/main">
  <p:tag name="KSO_WM_DIAGRAM_VIRTUALLY_FRAME" val="{&quot;height&quot;:252,&quot;left&quot;:21.6,&quot;top&quot;:115.2,&quot;width&quot;:683.28}"/>
</p:tagLst>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Company>PptxGenJS</Company>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AICW Student Project Presentation Template 2026</dc:title>
  <dc:creator>PptxGenJS</dc:creator>
  <cp:lastModifiedBy>LAHARI</cp:lastModifiedBy>
  <dcterms:created xsi:type="dcterms:W3CDTF">2026-02-17T22:17:00Z</dcterms:created>
  <dcterms:modified xsi:type="dcterms:W3CDTF">2026-04-14T13:59:30Z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36355E2BBB954BF99F66CF29193EA4EC_13</vt:lpwstr>
  </property>
  <property fmtid="{D5CDD505-2E9C-101B-9397-08002B2CF9AE}" pid="3" name="KSOProductBuildVer">
    <vt:lpwstr>1033-12.2.0.23196</vt:lpwstr>
  </property>
</Properties>
</file>